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4"/>
  </p:sldMasterIdLst>
  <p:notesMasterIdLst>
    <p:notesMasterId r:id="rId13"/>
  </p:notesMasterIdLst>
  <p:sldIdLst>
    <p:sldId id="256" r:id="rId5"/>
    <p:sldId id="951" r:id="rId6"/>
    <p:sldId id="942" r:id="rId7"/>
    <p:sldId id="950" r:id="rId8"/>
    <p:sldId id="947" r:id="rId9"/>
    <p:sldId id="949" r:id="rId10"/>
    <p:sldId id="880" r:id="rId11"/>
    <p:sldId id="946" r:id="rId12"/>
  </p:sldIdLst>
  <p:sldSz cx="5040313" cy="2160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8903C9D-70B7-4BC4-900E-18624B95A69A}">
          <p14:sldIdLst>
            <p14:sldId id="256"/>
            <p14:sldId id="951"/>
            <p14:sldId id="942"/>
            <p14:sldId id="950"/>
            <p14:sldId id="947"/>
            <p14:sldId id="949"/>
            <p14:sldId id="880"/>
            <p14:sldId id="946"/>
          </p14:sldIdLst>
        </p14:section>
        <p14:section name="reference" id="{A94778CB-137E-4031-A16F-4438DAD339DB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361" userDrawn="1">
          <p15:clr>
            <a:srgbClr val="A4A3A4"/>
          </p15:clr>
        </p15:guide>
        <p15:guide id="4" pos="3062" userDrawn="1">
          <p15:clr>
            <a:srgbClr val="A4A3A4"/>
          </p15:clr>
        </p15:guide>
        <p15:guide id="6" pos="113" userDrawn="1">
          <p15:clr>
            <a:srgbClr val="A4A3A4"/>
          </p15:clr>
        </p15:guide>
        <p15:guide id="7" orient="horz" pos="386" userDrawn="1">
          <p15:clr>
            <a:srgbClr val="A4A3A4"/>
          </p15:clr>
        </p15:guide>
        <p15:guide id="8" pos="2449" userDrawn="1">
          <p15:clr>
            <a:srgbClr val="A4A3A4"/>
          </p15:clr>
        </p15:guide>
        <p15:guide id="9" orient="horz" pos="295" userDrawn="1">
          <p15:clr>
            <a:srgbClr val="A4A3A4"/>
          </p15:clr>
        </p15:guide>
        <p15:guide id="11" orient="horz" pos="1111" userDrawn="1">
          <p15:clr>
            <a:srgbClr val="A4A3A4"/>
          </p15:clr>
        </p15:guide>
        <p15:guide id="14" pos="45" userDrawn="1">
          <p15:clr>
            <a:srgbClr val="A4A3A4"/>
          </p15:clr>
        </p15:guide>
        <p15:guide id="15" pos="3130" userDrawn="1">
          <p15:clr>
            <a:srgbClr val="A4A3A4"/>
          </p15:clr>
        </p15:guide>
        <p15:guide id="16" orient="horz" pos="227" userDrawn="1">
          <p15:clr>
            <a:srgbClr val="A4A3A4"/>
          </p15:clr>
        </p15:guide>
        <p15:guide id="17" orient="horz" pos="499" userDrawn="1">
          <p15:clr>
            <a:srgbClr val="A4A3A4"/>
          </p15:clr>
        </p15:guide>
        <p15:guide id="18" orient="horz" pos="408" userDrawn="1">
          <p15:clr>
            <a:srgbClr val="A4A3A4"/>
          </p15:clr>
        </p15:guide>
        <p15:guide id="19" orient="horz" pos="108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민정/Open Innovation그룹(SR)/삼성전자" initials="김I" lastIdx="3" clrIdx="0">
    <p:extLst>
      <p:ext uri="{19B8F6BF-5375-455C-9EA6-DF929625EA0E}">
        <p15:presenceInfo xmlns:p15="http://schemas.microsoft.com/office/powerpoint/2012/main" userId="S-1-5-21-1569490900-2152479555-3239727262-125754" providerId="AD"/>
      </p:ext>
    </p:extLst>
  </p:cmAuthor>
  <p:cmAuthor id="2" name="권기정/기술기획1그룹(SR)/삼성전자" initials="권" lastIdx="2" clrIdx="1">
    <p:extLst>
      <p:ext uri="{19B8F6BF-5375-455C-9EA6-DF929625EA0E}">
        <p15:presenceInfo xmlns:p15="http://schemas.microsoft.com/office/powerpoint/2012/main" userId="S-1-5-21-1569490900-2152479555-3239727262-25484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EAEC"/>
    <a:srgbClr val="F8F1EE"/>
    <a:srgbClr val="002957"/>
    <a:srgbClr val="F5E5EA"/>
    <a:srgbClr val="1C1F24"/>
    <a:srgbClr val="000000"/>
    <a:srgbClr val="0C0C0C"/>
    <a:srgbClr val="FFFFFF"/>
    <a:srgbClr val="00429B"/>
    <a:srgbClr val="181C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611" autoAdjust="0"/>
    <p:restoredTop sz="85273" autoAdjust="0"/>
  </p:normalViewPr>
  <p:slideViewPr>
    <p:cSldViewPr snapToGrid="0">
      <p:cViewPr varScale="1">
        <p:scale>
          <a:sx n="400" d="100"/>
          <a:sy n="400" d="100"/>
        </p:scale>
        <p:origin x="432" y="288"/>
      </p:cViewPr>
      <p:guideLst>
        <p:guide orient="horz" pos="1361"/>
        <p:guide pos="3062"/>
        <p:guide pos="113"/>
        <p:guide orient="horz" pos="386"/>
        <p:guide pos="2449"/>
        <p:guide orient="horz" pos="295"/>
        <p:guide orient="horz" pos="1111"/>
        <p:guide pos="45"/>
        <p:guide pos="3130"/>
        <p:guide orient="horz" pos="227"/>
        <p:guide orient="horz" pos="499"/>
        <p:guide orient="horz" pos="408"/>
        <p:guide orient="horz" pos="108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FC830A-C220-425E-91ED-A3ADADE647B7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169863" y="1143000"/>
            <a:ext cx="719772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A4678F-0931-4870-B6A4-55E78774F54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0454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https://mosaic.sec.samsung.net/kms/comty.do?comtyId=435029&amp;menuId=7276753&amp;page=list&amp;type=LIST</a:t>
            </a:r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A4678F-0931-4870-B6A4-55E78774F54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3655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u="sng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https://www.zdnet.com/article/claude-code-review-ai-agents-pull-request-bug-detection/</a:t>
            </a:r>
            <a:endParaRPr lang="en-US" sz="1200" u="sng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A4678F-0931-4870-B6A4-55E78774F54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53522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effectLst/>
                <a:latin typeface="Calibri" panose="020F0502020204030204" pitchFamily="34" charset="0"/>
                <a:ea typeface="Malgun Gothic" panose="020B0503020000020004" pitchFamily="34" charset="-127"/>
              </a:rPr>
              <a:t>https://news.mit.edu/2026/improving-ai-models-ability-explain-predictions-0309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A4678F-0931-4870-B6A4-55E78774F54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90577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https://www.gartner.com/en/newsroom/press-releases/2026-03-09-gartner-identifies-three-pillars-for-deriving-value-from-ai?utm_campaign=SM_GB_YOY_GTR_SOC_SF1_SM-PR&amp;utm_source=threads,twitter&amp;utm_medium=social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A4678F-0931-4870-B6A4-55E78774F54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64261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https://www.reuters.com/technology/abb-teams-up-with-nvidia-improve-factory-robot-training-2026-03-09/</a:t>
            </a:r>
            <a:endParaRPr lang="en-US" sz="1800" dirty="0">
              <a:effectLst/>
              <a:latin typeface="Calibri" panose="020F0502020204030204" pitchFamily="34" charset="0"/>
              <a:ea typeface="Malgun Gothic" panose="020B0503020000020004" pitchFamily="34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A4678F-0931-4870-B6A4-55E78774F54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07486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https://www.yna.co.kr/view/AKR20260309132700063?input=1195m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A4678F-0931-4870-B6A4-55E78774F54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42593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https://news.uga.edu/smart-clothes/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A4678F-0931-4870-B6A4-55E78774F54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57237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https://www.cnet.com/tech/mobile/telepathy-machine-heres-what-mits-alterego-wearable-actually-does/</a:t>
            </a:r>
            <a:endParaRPr lang="en-US" sz="1800" dirty="0">
              <a:effectLst/>
              <a:latin typeface="Calibri" panose="020F0502020204030204" pitchFamily="34" charset="0"/>
              <a:ea typeface="Malgun Gothic" panose="020B0503020000020004" pitchFamily="34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7A4678F-0931-4870-B6A4-55E78774F54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34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34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5723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0039" y="353596"/>
            <a:ext cx="3780235" cy="752205"/>
          </a:xfrm>
        </p:spPr>
        <p:txBody>
          <a:bodyPr anchor="b"/>
          <a:lstStyle>
            <a:lvl1pPr algn="ctr">
              <a:defRPr sz="189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0039" y="1134809"/>
            <a:ext cx="3780235" cy="521642"/>
          </a:xfrm>
        </p:spPr>
        <p:txBody>
          <a:bodyPr/>
          <a:lstStyle>
            <a:lvl1pPr marL="0" indent="0" algn="ctr">
              <a:buNone/>
              <a:defRPr sz="756"/>
            </a:lvl1pPr>
            <a:lvl2pPr marL="144018" indent="0" algn="ctr">
              <a:buNone/>
              <a:defRPr sz="630"/>
            </a:lvl2pPr>
            <a:lvl3pPr marL="288036" indent="0" algn="ctr">
              <a:buNone/>
              <a:defRPr sz="567"/>
            </a:lvl3pPr>
            <a:lvl4pPr marL="432054" indent="0" algn="ctr">
              <a:buNone/>
              <a:defRPr sz="504"/>
            </a:lvl4pPr>
            <a:lvl5pPr marL="576072" indent="0" algn="ctr">
              <a:buNone/>
              <a:defRPr sz="504"/>
            </a:lvl5pPr>
            <a:lvl6pPr marL="720090" indent="0" algn="ctr">
              <a:buNone/>
              <a:defRPr sz="504"/>
            </a:lvl6pPr>
            <a:lvl7pPr marL="864108" indent="0" algn="ctr">
              <a:buNone/>
              <a:defRPr sz="504"/>
            </a:lvl7pPr>
            <a:lvl8pPr marL="1008126" indent="0" algn="ctr">
              <a:buNone/>
              <a:defRPr sz="504"/>
            </a:lvl8pPr>
            <a:lvl9pPr marL="1152144" indent="0" algn="ctr">
              <a:buNone/>
              <a:defRPr sz="504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EC4B7-D3E6-4ECC-8AF1-71C5A58CA52B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8FA61-42CE-4B03-9351-31EA914361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042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EC4B7-D3E6-4ECC-8AF1-71C5A58CA52B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8FA61-42CE-4B03-9351-31EA914361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8274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896" y="538647"/>
            <a:ext cx="4347270" cy="898744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896" y="1445894"/>
            <a:ext cx="4347270" cy="472628"/>
          </a:xfrm>
        </p:spPr>
        <p:txBody>
          <a:bodyPr/>
          <a:lstStyle>
            <a:lvl1pPr marL="0" indent="0">
              <a:buNone/>
              <a:defRPr sz="756">
                <a:solidFill>
                  <a:schemeClr val="tx1">
                    <a:tint val="75000"/>
                  </a:schemeClr>
                </a:solidFill>
              </a:defRPr>
            </a:lvl1pPr>
            <a:lvl2pPr marL="144018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2pPr>
            <a:lvl3pPr marL="288036" indent="0">
              <a:buNone/>
              <a:defRPr sz="567">
                <a:solidFill>
                  <a:schemeClr val="tx1">
                    <a:tint val="75000"/>
                  </a:schemeClr>
                </a:solidFill>
              </a:defRPr>
            </a:lvl3pPr>
            <a:lvl4pPr marL="432054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4pPr>
            <a:lvl5pPr marL="576072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5pPr>
            <a:lvl6pPr marL="720090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6pPr>
            <a:lvl7pPr marL="864108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7pPr>
            <a:lvl8pPr marL="1008126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8pPr>
            <a:lvl9pPr marL="1152144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EC4B7-D3E6-4ECC-8AF1-71C5A58CA52B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8FA61-42CE-4B03-9351-31EA914361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671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522" y="575157"/>
            <a:ext cx="2142133" cy="137087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51658" y="575157"/>
            <a:ext cx="2142133" cy="137087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EC4B7-D3E6-4ECC-8AF1-71C5A58CA52B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8FA61-42CE-4B03-9351-31EA914361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8014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115031"/>
            <a:ext cx="4347270" cy="417614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178" y="529645"/>
            <a:ext cx="2132288" cy="259570"/>
          </a:xfrm>
        </p:spPr>
        <p:txBody>
          <a:bodyPr anchor="b"/>
          <a:lstStyle>
            <a:lvl1pPr marL="0" indent="0">
              <a:buNone/>
              <a:defRPr sz="756" b="1"/>
            </a:lvl1pPr>
            <a:lvl2pPr marL="144018" indent="0">
              <a:buNone/>
              <a:defRPr sz="630" b="1"/>
            </a:lvl2pPr>
            <a:lvl3pPr marL="288036" indent="0">
              <a:buNone/>
              <a:defRPr sz="567" b="1"/>
            </a:lvl3pPr>
            <a:lvl4pPr marL="432054" indent="0">
              <a:buNone/>
              <a:defRPr sz="504" b="1"/>
            </a:lvl4pPr>
            <a:lvl5pPr marL="576072" indent="0">
              <a:buNone/>
              <a:defRPr sz="504" b="1"/>
            </a:lvl5pPr>
            <a:lvl6pPr marL="720090" indent="0">
              <a:buNone/>
              <a:defRPr sz="504" b="1"/>
            </a:lvl6pPr>
            <a:lvl7pPr marL="864108" indent="0">
              <a:buNone/>
              <a:defRPr sz="504" b="1"/>
            </a:lvl7pPr>
            <a:lvl8pPr marL="1008126" indent="0">
              <a:buNone/>
              <a:defRPr sz="504" b="1"/>
            </a:lvl8pPr>
            <a:lvl9pPr marL="1152144" indent="0">
              <a:buNone/>
              <a:defRPr sz="504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78" y="789215"/>
            <a:ext cx="2132288" cy="116081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51658" y="529645"/>
            <a:ext cx="2142790" cy="259570"/>
          </a:xfrm>
        </p:spPr>
        <p:txBody>
          <a:bodyPr anchor="b"/>
          <a:lstStyle>
            <a:lvl1pPr marL="0" indent="0">
              <a:buNone/>
              <a:defRPr sz="756" b="1"/>
            </a:lvl1pPr>
            <a:lvl2pPr marL="144018" indent="0">
              <a:buNone/>
              <a:defRPr sz="630" b="1"/>
            </a:lvl2pPr>
            <a:lvl3pPr marL="288036" indent="0">
              <a:buNone/>
              <a:defRPr sz="567" b="1"/>
            </a:lvl3pPr>
            <a:lvl4pPr marL="432054" indent="0">
              <a:buNone/>
              <a:defRPr sz="504" b="1"/>
            </a:lvl4pPr>
            <a:lvl5pPr marL="576072" indent="0">
              <a:buNone/>
              <a:defRPr sz="504" b="1"/>
            </a:lvl5pPr>
            <a:lvl6pPr marL="720090" indent="0">
              <a:buNone/>
              <a:defRPr sz="504" b="1"/>
            </a:lvl6pPr>
            <a:lvl7pPr marL="864108" indent="0">
              <a:buNone/>
              <a:defRPr sz="504" b="1"/>
            </a:lvl7pPr>
            <a:lvl8pPr marL="1008126" indent="0">
              <a:buNone/>
              <a:defRPr sz="504" b="1"/>
            </a:lvl8pPr>
            <a:lvl9pPr marL="1152144" indent="0">
              <a:buNone/>
              <a:defRPr sz="504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51658" y="789215"/>
            <a:ext cx="2142790" cy="116081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EC4B7-D3E6-4ECC-8AF1-71C5A58CA52B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8FA61-42CE-4B03-9351-31EA914361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3208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EC4B7-D3E6-4ECC-8AF1-71C5A58CA52B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8FA61-42CE-4B03-9351-31EA914361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213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EC4B7-D3E6-4ECC-8AF1-71C5A58CA52B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8FA61-42CE-4B03-9351-31EA914361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2072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7178" y="144039"/>
            <a:ext cx="1625632" cy="504137"/>
          </a:xfrm>
        </p:spPr>
        <p:txBody>
          <a:bodyPr anchor="b"/>
          <a:lstStyle>
            <a:lvl1pPr>
              <a:defRPr sz="100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790" y="311085"/>
            <a:ext cx="2551658" cy="1535418"/>
          </a:xfrm>
        </p:spPr>
        <p:txBody>
          <a:bodyPr/>
          <a:lstStyle>
            <a:lvl1pPr>
              <a:defRPr sz="1008"/>
            </a:lvl1pPr>
            <a:lvl2pPr>
              <a:defRPr sz="882"/>
            </a:lvl2pPr>
            <a:lvl3pPr>
              <a:defRPr sz="756"/>
            </a:lvl3pPr>
            <a:lvl4pPr>
              <a:defRPr sz="630"/>
            </a:lvl4pPr>
            <a:lvl5pPr>
              <a:defRPr sz="630"/>
            </a:lvl5pPr>
            <a:lvl6pPr>
              <a:defRPr sz="630"/>
            </a:lvl6pPr>
            <a:lvl7pPr>
              <a:defRPr sz="630"/>
            </a:lvl7pPr>
            <a:lvl8pPr>
              <a:defRPr sz="630"/>
            </a:lvl8pPr>
            <a:lvl9pPr>
              <a:defRPr sz="630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7178" y="648176"/>
            <a:ext cx="1625632" cy="1200827"/>
          </a:xfrm>
        </p:spPr>
        <p:txBody>
          <a:bodyPr/>
          <a:lstStyle>
            <a:lvl1pPr marL="0" indent="0">
              <a:buNone/>
              <a:defRPr sz="504"/>
            </a:lvl1pPr>
            <a:lvl2pPr marL="144018" indent="0">
              <a:buNone/>
              <a:defRPr sz="441"/>
            </a:lvl2pPr>
            <a:lvl3pPr marL="288036" indent="0">
              <a:buNone/>
              <a:defRPr sz="378"/>
            </a:lvl3pPr>
            <a:lvl4pPr marL="432054" indent="0">
              <a:buNone/>
              <a:defRPr sz="315"/>
            </a:lvl4pPr>
            <a:lvl5pPr marL="576072" indent="0">
              <a:buNone/>
              <a:defRPr sz="315"/>
            </a:lvl5pPr>
            <a:lvl6pPr marL="720090" indent="0">
              <a:buNone/>
              <a:defRPr sz="315"/>
            </a:lvl6pPr>
            <a:lvl7pPr marL="864108" indent="0">
              <a:buNone/>
              <a:defRPr sz="315"/>
            </a:lvl7pPr>
            <a:lvl8pPr marL="1008126" indent="0">
              <a:buNone/>
              <a:defRPr sz="315"/>
            </a:lvl8pPr>
            <a:lvl9pPr marL="1152144" indent="0">
              <a:buNone/>
              <a:defRPr sz="315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EC4B7-D3E6-4ECC-8AF1-71C5A58CA52B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8FA61-42CE-4B03-9351-31EA914361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6429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0209" y="134840"/>
            <a:ext cx="975600" cy="932400"/>
          </a:xfrm>
          <a:prstGeom prst="roundRect">
            <a:avLst/>
          </a:prstGeom>
          <a:solidFill>
            <a:schemeClr val="bg1"/>
          </a:solidFill>
        </p:spPr>
        <p:txBody>
          <a:bodyPr anchor="t"/>
          <a:lstStyle>
            <a:lvl1pPr marL="0" indent="0">
              <a:buNone/>
              <a:defRPr sz="1008"/>
            </a:lvl1pPr>
            <a:lvl2pPr marL="144018" indent="0">
              <a:buNone/>
              <a:defRPr sz="882"/>
            </a:lvl2pPr>
            <a:lvl3pPr marL="288036" indent="0">
              <a:buNone/>
              <a:defRPr sz="756"/>
            </a:lvl3pPr>
            <a:lvl4pPr marL="432054" indent="0">
              <a:buNone/>
              <a:defRPr sz="630"/>
            </a:lvl4pPr>
            <a:lvl5pPr marL="576072" indent="0">
              <a:buNone/>
              <a:defRPr sz="630"/>
            </a:lvl5pPr>
            <a:lvl6pPr marL="720090" indent="0">
              <a:buNone/>
              <a:defRPr sz="630"/>
            </a:lvl6pPr>
            <a:lvl7pPr marL="864108" indent="0">
              <a:buNone/>
              <a:defRPr sz="630"/>
            </a:lvl7pPr>
            <a:lvl8pPr marL="1008126" indent="0">
              <a:buNone/>
              <a:defRPr sz="630"/>
            </a:lvl8pPr>
            <a:lvl9pPr marL="1152144" indent="0">
              <a:buNone/>
              <a:defRPr sz="63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0"/>
          </p:nvPr>
        </p:nvSpPr>
        <p:spPr>
          <a:xfrm>
            <a:off x="1704011" y="134840"/>
            <a:ext cx="975600" cy="932400"/>
          </a:xfrm>
          <a:prstGeom prst="roundRect">
            <a:avLst/>
          </a:prstGeom>
        </p:spPr>
        <p:txBody>
          <a:bodyPr anchor="t"/>
          <a:lstStyle>
            <a:lvl1pPr marL="0" indent="0">
              <a:buNone/>
              <a:defRPr sz="1008"/>
            </a:lvl1pPr>
            <a:lvl2pPr marL="144018" indent="0">
              <a:buNone/>
              <a:defRPr sz="882"/>
            </a:lvl2pPr>
            <a:lvl3pPr marL="288036" indent="0">
              <a:buNone/>
              <a:defRPr sz="756"/>
            </a:lvl3pPr>
            <a:lvl4pPr marL="432054" indent="0">
              <a:buNone/>
              <a:defRPr sz="630"/>
            </a:lvl4pPr>
            <a:lvl5pPr marL="576072" indent="0">
              <a:buNone/>
              <a:defRPr sz="630"/>
            </a:lvl5pPr>
            <a:lvl6pPr marL="720090" indent="0">
              <a:buNone/>
              <a:defRPr sz="630"/>
            </a:lvl6pPr>
            <a:lvl7pPr marL="864108" indent="0">
              <a:buNone/>
              <a:defRPr sz="630"/>
            </a:lvl7pPr>
            <a:lvl8pPr marL="1008126" indent="0">
              <a:buNone/>
              <a:defRPr sz="630"/>
            </a:lvl8pPr>
            <a:lvl9pPr marL="1152144" indent="0">
              <a:buNone/>
              <a:defRPr sz="63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1"/>
          </p:nvPr>
        </p:nvSpPr>
        <p:spPr>
          <a:xfrm>
            <a:off x="2957813" y="134840"/>
            <a:ext cx="975600" cy="932400"/>
          </a:xfrm>
          <a:prstGeom prst="roundRect">
            <a:avLst/>
          </a:prstGeom>
        </p:spPr>
        <p:txBody>
          <a:bodyPr anchor="t"/>
          <a:lstStyle>
            <a:lvl1pPr marL="0" indent="0">
              <a:buNone/>
              <a:defRPr sz="1008"/>
            </a:lvl1pPr>
            <a:lvl2pPr marL="144018" indent="0">
              <a:buNone/>
              <a:defRPr sz="882"/>
            </a:lvl2pPr>
            <a:lvl3pPr marL="288036" indent="0">
              <a:buNone/>
              <a:defRPr sz="756"/>
            </a:lvl3pPr>
            <a:lvl4pPr marL="432054" indent="0">
              <a:buNone/>
              <a:defRPr sz="630"/>
            </a:lvl4pPr>
            <a:lvl5pPr marL="576072" indent="0">
              <a:buNone/>
              <a:defRPr sz="630"/>
            </a:lvl5pPr>
            <a:lvl6pPr marL="720090" indent="0">
              <a:buNone/>
              <a:defRPr sz="630"/>
            </a:lvl6pPr>
            <a:lvl7pPr marL="864108" indent="0">
              <a:buNone/>
              <a:defRPr sz="630"/>
            </a:lvl7pPr>
            <a:lvl8pPr marL="1008126" indent="0">
              <a:buNone/>
              <a:defRPr sz="630"/>
            </a:lvl8pPr>
            <a:lvl9pPr marL="1152144" indent="0">
              <a:buNone/>
              <a:defRPr sz="63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2"/>
          </p:nvPr>
        </p:nvSpPr>
        <p:spPr>
          <a:xfrm>
            <a:off x="1077110" y="1134396"/>
            <a:ext cx="975600" cy="932400"/>
          </a:xfrm>
          <a:prstGeom prst="roundRect">
            <a:avLst/>
          </a:prstGeom>
        </p:spPr>
        <p:txBody>
          <a:bodyPr anchor="t"/>
          <a:lstStyle>
            <a:lvl1pPr marL="0" indent="0">
              <a:buNone/>
              <a:defRPr sz="1008"/>
            </a:lvl1pPr>
            <a:lvl2pPr marL="144018" indent="0">
              <a:buNone/>
              <a:defRPr sz="882"/>
            </a:lvl2pPr>
            <a:lvl3pPr marL="288036" indent="0">
              <a:buNone/>
              <a:defRPr sz="756"/>
            </a:lvl3pPr>
            <a:lvl4pPr marL="432054" indent="0">
              <a:buNone/>
              <a:defRPr sz="630"/>
            </a:lvl4pPr>
            <a:lvl5pPr marL="576072" indent="0">
              <a:buNone/>
              <a:defRPr sz="630"/>
            </a:lvl5pPr>
            <a:lvl6pPr marL="720090" indent="0">
              <a:buNone/>
              <a:defRPr sz="630"/>
            </a:lvl6pPr>
            <a:lvl7pPr marL="864108" indent="0">
              <a:buNone/>
              <a:defRPr sz="630"/>
            </a:lvl7pPr>
            <a:lvl8pPr marL="1008126" indent="0">
              <a:buNone/>
              <a:defRPr sz="630"/>
            </a:lvl8pPr>
            <a:lvl9pPr marL="1152144" indent="0">
              <a:buNone/>
              <a:defRPr sz="63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3"/>
          </p:nvPr>
        </p:nvSpPr>
        <p:spPr>
          <a:xfrm>
            <a:off x="2330912" y="1134396"/>
            <a:ext cx="975600" cy="932400"/>
          </a:xfrm>
          <a:prstGeom prst="roundRect">
            <a:avLst/>
          </a:prstGeom>
        </p:spPr>
        <p:txBody>
          <a:bodyPr anchor="t"/>
          <a:lstStyle>
            <a:lvl1pPr marL="0" indent="0">
              <a:buNone/>
              <a:defRPr sz="1008"/>
            </a:lvl1pPr>
            <a:lvl2pPr marL="144018" indent="0">
              <a:buNone/>
              <a:defRPr sz="882"/>
            </a:lvl2pPr>
            <a:lvl3pPr marL="288036" indent="0">
              <a:buNone/>
              <a:defRPr sz="756"/>
            </a:lvl3pPr>
            <a:lvl4pPr marL="432054" indent="0">
              <a:buNone/>
              <a:defRPr sz="630"/>
            </a:lvl4pPr>
            <a:lvl5pPr marL="576072" indent="0">
              <a:buNone/>
              <a:defRPr sz="630"/>
            </a:lvl5pPr>
            <a:lvl6pPr marL="720090" indent="0">
              <a:buNone/>
              <a:defRPr sz="630"/>
            </a:lvl6pPr>
            <a:lvl7pPr marL="864108" indent="0">
              <a:buNone/>
              <a:defRPr sz="630"/>
            </a:lvl7pPr>
            <a:lvl8pPr marL="1008126" indent="0">
              <a:buNone/>
              <a:defRPr sz="630"/>
            </a:lvl8pPr>
            <a:lvl9pPr marL="1152144" indent="0">
              <a:buNone/>
              <a:defRPr sz="63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4"/>
          </p:nvPr>
        </p:nvSpPr>
        <p:spPr>
          <a:xfrm>
            <a:off x="3584715" y="1134396"/>
            <a:ext cx="975600" cy="932400"/>
          </a:xfrm>
          <a:prstGeom prst="roundRect">
            <a:avLst/>
          </a:prstGeom>
        </p:spPr>
        <p:txBody>
          <a:bodyPr anchor="t"/>
          <a:lstStyle>
            <a:lvl1pPr marL="0" indent="0">
              <a:buNone/>
              <a:defRPr sz="1008"/>
            </a:lvl1pPr>
            <a:lvl2pPr marL="144018" indent="0">
              <a:buNone/>
              <a:defRPr sz="882"/>
            </a:lvl2pPr>
            <a:lvl3pPr marL="288036" indent="0">
              <a:buNone/>
              <a:defRPr sz="756"/>
            </a:lvl3pPr>
            <a:lvl4pPr marL="432054" indent="0">
              <a:buNone/>
              <a:defRPr sz="630"/>
            </a:lvl4pPr>
            <a:lvl5pPr marL="576072" indent="0">
              <a:buNone/>
              <a:defRPr sz="630"/>
            </a:lvl5pPr>
            <a:lvl6pPr marL="720090" indent="0">
              <a:buNone/>
              <a:defRPr sz="630"/>
            </a:lvl6pPr>
            <a:lvl7pPr marL="864108" indent="0">
              <a:buNone/>
              <a:defRPr sz="630"/>
            </a:lvl7pPr>
            <a:lvl8pPr marL="1008126" indent="0">
              <a:buNone/>
              <a:defRPr sz="630"/>
            </a:lvl8pPr>
            <a:lvl9pPr marL="1152144" indent="0">
              <a:buNone/>
              <a:defRPr sz="63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868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EC4B7-D3E6-4ECC-8AF1-71C5A58CA52B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8FA61-42CE-4B03-9351-31EA914361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9156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06974" y="115032"/>
            <a:ext cx="1086817" cy="183099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6521" y="115032"/>
            <a:ext cx="3197449" cy="183099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EC4B7-D3E6-4ECC-8AF1-71C5A58CA52B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A8FA61-42CE-4B03-9351-31EA914361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9162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6522" y="115031"/>
            <a:ext cx="4347270" cy="417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522" y="575157"/>
            <a:ext cx="4347270" cy="1370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6522" y="2002545"/>
            <a:ext cx="1134070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9EC4B7-D3E6-4ECC-8AF1-71C5A58CA52B}" type="datetimeFigureOut">
              <a:rPr lang="ko-KR" altLang="en-US" smtClean="0"/>
              <a:t>2026-04-24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69604" y="2002545"/>
            <a:ext cx="1701106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59721" y="2002545"/>
            <a:ext cx="1134070" cy="1150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A8FA61-42CE-4B03-9351-31EA914361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0041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50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52" r:id="rId9"/>
    <p:sldLayoutId id="2147483742" r:id="rId10"/>
    <p:sldLayoutId id="2147483743" r:id="rId11"/>
  </p:sldLayoutIdLst>
  <p:txStyles>
    <p:titleStyle>
      <a:lvl1pPr algn="l" defTabSz="288036" rtl="0" eaLnBrk="1" latinLnBrk="1" hangingPunct="1">
        <a:lnSpc>
          <a:spcPct val="90000"/>
        </a:lnSpc>
        <a:spcBef>
          <a:spcPct val="0"/>
        </a:spcBef>
        <a:buNone/>
        <a:defRPr sz="138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009" indent="-72009" algn="l" defTabSz="288036" rtl="0" eaLnBrk="1" latinLnBrk="1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882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" indent="-72009" algn="l" defTabSz="288036" rtl="0" eaLnBrk="1" latinLnBrk="1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2pPr>
      <a:lvl3pPr marL="360045" indent="-72009" algn="l" defTabSz="288036" rtl="0" eaLnBrk="1" latinLnBrk="1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3pPr>
      <a:lvl4pPr marL="504063" indent="-72009" algn="l" defTabSz="288036" rtl="0" eaLnBrk="1" latinLnBrk="1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4pPr>
      <a:lvl5pPr marL="648081" indent="-72009" algn="l" defTabSz="288036" rtl="0" eaLnBrk="1" latinLnBrk="1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5pPr>
      <a:lvl6pPr marL="792099" indent="-72009" algn="l" defTabSz="288036" rtl="0" eaLnBrk="1" latinLnBrk="1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6pPr>
      <a:lvl7pPr marL="936117" indent="-72009" algn="l" defTabSz="288036" rtl="0" eaLnBrk="1" latinLnBrk="1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7pPr>
      <a:lvl8pPr marL="1080135" indent="-72009" algn="l" defTabSz="288036" rtl="0" eaLnBrk="1" latinLnBrk="1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8pPr>
      <a:lvl9pPr marL="1224153" indent="-72009" algn="l" defTabSz="288036" rtl="0" eaLnBrk="1" latinLnBrk="1" hangingPunct="1">
        <a:lnSpc>
          <a:spcPct val="90000"/>
        </a:lnSpc>
        <a:spcBef>
          <a:spcPts val="15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8036" rtl="0" eaLnBrk="1" latinLnBrk="1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1pPr>
      <a:lvl2pPr marL="144018" algn="l" defTabSz="288036" rtl="0" eaLnBrk="1" latinLnBrk="1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2pPr>
      <a:lvl3pPr marL="288036" algn="l" defTabSz="288036" rtl="0" eaLnBrk="1" latinLnBrk="1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3pPr>
      <a:lvl4pPr marL="432054" algn="l" defTabSz="288036" rtl="0" eaLnBrk="1" latinLnBrk="1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4pPr>
      <a:lvl5pPr marL="576072" algn="l" defTabSz="288036" rtl="0" eaLnBrk="1" latinLnBrk="1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5pPr>
      <a:lvl6pPr marL="720090" algn="l" defTabSz="288036" rtl="0" eaLnBrk="1" latinLnBrk="1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6pPr>
      <a:lvl7pPr marL="864108" algn="l" defTabSz="288036" rtl="0" eaLnBrk="1" latinLnBrk="1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7pPr>
      <a:lvl8pPr marL="1008126" algn="l" defTabSz="288036" rtl="0" eaLnBrk="1" latinLnBrk="1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8pPr>
      <a:lvl9pPr marL="1152144" algn="l" defTabSz="288036" rtl="0" eaLnBrk="1" latinLnBrk="1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36">
            <a:extLst>
              <a:ext uri="{FF2B5EF4-FFF2-40B4-BE49-F238E27FC236}">
                <a16:creationId xmlns:a16="http://schemas.microsoft.com/office/drawing/2014/main" id="{FE09122E-86E7-A92E-7035-A4A847C3EE8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801" y="1647083"/>
            <a:ext cx="4896000" cy="396000"/>
          </a:xfrm>
          <a:prstGeom prst="rect">
            <a:avLst/>
          </a:prstGeom>
        </p:spPr>
      </p:pic>
      <p:pic>
        <p:nvPicPr>
          <p:cNvPr id="10" name="그림 36">
            <a:extLst>
              <a:ext uri="{FF2B5EF4-FFF2-40B4-BE49-F238E27FC236}">
                <a16:creationId xmlns:a16="http://schemas.microsoft.com/office/drawing/2014/main" id="{FE09122E-86E7-A92E-7035-A4A847C3EE8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687" y="115463"/>
            <a:ext cx="4913114" cy="432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22347" y="192963"/>
            <a:ext cx="235746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Samsung Sharp Sans Bold" pitchFamily="2" charset="0"/>
                <a:cs typeface="Samsung Sharp Sans Bold" pitchFamily="2" charset="0"/>
              </a:rPr>
              <a:t>SR Tech News Daily </a:t>
            </a:r>
            <a:endParaRPr lang="ko-KR" altLang="en-US" dirty="0">
              <a:solidFill>
                <a:schemeClr val="bg1"/>
              </a:solidFill>
              <a:latin typeface="Samsung Sharp Sans Bold" pitchFamily="2" charset="0"/>
              <a:cs typeface="Samsung Sharp Sans Bold" pitchFamily="2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337952" y="351681"/>
            <a:ext cx="549831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ko-KR" sz="900" dirty="0">
                <a:solidFill>
                  <a:schemeClr val="bg1"/>
                </a:solidFill>
                <a:latin typeface="Samsung Sharp Sans Bold" pitchFamily="2" charset="0"/>
                <a:cs typeface="Samsung Sharp Sans Bold" pitchFamily="2" charset="0"/>
              </a:rPr>
              <a:t>2026. 3. 10.</a:t>
            </a:r>
            <a:endParaRPr lang="ko-KR" altLang="en-US" sz="1000" dirty="0">
              <a:solidFill>
                <a:schemeClr val="bg1"/>
              </a:solidFill>
              <a:latin typeface="Samsung Sharp Sans Bold" pitchFamily="2" charset="0"/>
              <a:cs typeface="Samsung Sharp Sans Bold" pitchFamily="2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87478" y="571395"/>
            <a:ext cx="1258336" cy="923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r>
              <a:rPr lang="en-US" altLang="ko-KR" sz="600" dirty="0">
                <a:solidFill>
                  <a:srgbClr val="022CB2"/>
                </a:solidFill>
                <a:latin typeface="SamsungOneKorean 700C" panose="020B0806030303020204" pitchFamily="50" charset="-127"/>
                <a:ea typeface="SamsungOneKorean 700C" panose="020B0806030303020204" pitchFamily="50" charset="-127"/>
              </a:rPr>
              <a:t>※  </a:t>
            </a:r>
            <a:r>
              <a:rPr lang="ko-KR" altLang="en-US" sz="600" dirty="0">
                <a:solidFill>
                  <a:srgbClr val="022CB2"/>
                </a:solidFill>
                <a:latin typeface="SamsungOneKorean 700C" panose="020B0806030303020204" pitchFamily="50" charset="-127"/>
                <a:ea typeface="SamsungOneKorean 700C" panose="020B0806030303020204" pitchFamily="50" charset="-127"/>
              </a:rPr>
              <a:t>본문을 클릭하시면 관련 기사로 링크됩니다</a:t>
            </a:r>
            <a:r>
              <a:rPr lang="en-US" altLang="ko-KR" sz="600" dirty="0">
                <a:solidFill>
                  <a:srgbClr val="022CB2"/>
                </a:solidFill>
                <a:latin typeface="SamsungOneKorean 700C" panose="020B0806030303020204" pitchFamily="50" charset="-127"/>
                <a:ea typeface="SamsungOneKorean 700C" panose="020B0806030303020204" pitchFamily="50" charset="-127"/>
              </a:rPr>
              <a:t>.</a:t>
            </a:r>
            <a:r>
              <a:rPr lang="ko-KR" altLang="en-US" sz="600" dirty="0">
                <a:solidFill>
                  <a:srgbClr val="022CB2"/>
                </a:solidFill>
                <a:latin typeface="SamsungOneKorean 700C" panose="020B0806030303020204" pitchFamily="50" charset="-127"/>
                <a:ea typeface="SamsungOneKorean 700C" panose="020B0806030303020204" pitchFamily="50" charset="-127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DE9E45-EA35-7695-A899-A14D85F687D2}"/>
              </a:ext>
            </a:extLst>
          </p:cNvPr>
          <p:cNvSpPr txBox="1"/>
          <p:nvPr/>
        </p:nvSpPr>
        <p:spPr>
          <a:xfrm>
            <a:off x="3155037" y="1739694"/>
            <a:ext cx="1715150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400" dirty="0">
                <a:solidFill>
                  <a:prstClr val="white"/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Research</a:t>
            </a:r>
            <a:endParaRPr lang="ko-KR" altLang="en-US" sz="1400" dirty="0">
              <a:solidFill>
                <a:prstClr val="white"/>
              </a:solidFill>
              <a:latin typeface="Samsung Sharp Sans Bold" pitchFamily="2" charset="0"/>
              <a:cs typeface="Samsung Sharp Sans Bold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9902" y="1770472"/>
            <a:ext cx="3046948" cy="184666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ko-KR" altLang="en-US" sz="600" dirty="0">
                <a:solidFill>
                  <a:schemeClr val="bg1"/>
                </a:solidFill>
                <a:latin typeface="SamsungOneKorean 700C" panose="020B0806030303020204" pitchFamily="50" charset="-127"/>
                <a:ea typeface="SamsungOneKorean 700C" panose="020B0806030303020204" pitchFamily="50" charset="-127"/>
                <a:cs typeface="Samsung Sharp Sans Bold" pitchFamily="2" charset="0"/>
              </a:rPr>
              <a:t>* 기존 발행된 </a:t>
            </a:r>
            <a:r>
              <a:rPr lang="en-US" altLang="ko-KR" sz="600" dirty="0">
                <a:solidFill>
                  <a:schemeClr val="bg1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SR Tech News Daily</a:t>
            </a:r>
            <a:r>
              <a:rPr lang="ko-KR" altLang="en-US" sz="600" dirty="0">
                <a:solidFill>
                  <a:schemeClr val="bg1"/>
                </a:solidFill>
                <a:latin typeface="SamsungOneKorean 700C" panose="020B0806030303020204" pitchFamily="50" charset="-127"/>
                <a:ea typeface="SamsungOneKorean 700C" panose="020B0806030303020204" pitchFamily="50" charset="-127"/>
                <a:cs typeface="Samsung Sharp Sans Bold" pitchFamily="2" charset="0"/>
              </a:rPr>
              <a:t>는 </a:t>
            </a:r>
            <a:r>
              <a:rPr lang="en-US" altLang="ko-KR" sz="600" b="1" dirty="0">
                <a:solidFill>
                  <a:schemeClr val="bg1"/>
                </a:solidFill>
                <a:latin typeface="SamsungOneKorean 700C" panose="020B0806030303020204" pitchFamily="50" charset="-127"/>
                <a:ea typeface="SamsungOneKorean 700C" panose="020B0806030303020204" pitchFamily="50" charset="-127"/>
                <a:cs typeface="Samsung Sharp Sans Bold" pitchFamily="2" charset="0"/>
              </a:rPr>
              <a:t>[</a:t>
            </a:r>
            <a:r>
              <a:rPr lang="en-US" altLang="ko-KR" sz="600" b="1" dirty="0">
                <a:solidFill>
                  <a:schemeClr val="bg1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SR</a:t>
            </a:r>
            <a:r>
              <a:rPr lang="en-US" altLang="ko-KR" sz="600" b="1" dirty="0">
                <a:solidFill>
                  <a:schemeClr val="bg1"/>
                </a:solidFill>
                <a:latin typeface="SamsungOneKorean 700C" panose="020B0806030303020204" pitchFamily="50" charset="-127"/>
                <a:ea typeface="SamsungOneKorean 700C" panose="020B0806030303020204" pitchFamily="50" charset="-127"/>
                <a:cs typeface="Samsung Sharp Sans" pitchFamily="2" charset="0"/>
              </a:rPr>
              <a:t> </a:t>
            </a:r>
            <a:r>
              <a:rPr lang="ko-KR" altLang="en-US" sz="600" b="1" dirty="0">
                <a:solidFill>
                  <a:schemeClr val="bg1"/>
                </a:solidFill>
                <a:latin typeface="SamsungOneKorean 700C" panose="020B0806030303020204" pitchFamily="50" charset="-127"/>
                <a:ea typeface="SamsungOneKorean 700C" panose="020B0806030303020204" pitchFamily="50" charset="-127"/>
                <a:cs typeface="Samsung Sharp Sans Bold" pitchFamily="2" charset="0"/>
              </a:rPr>
              <a:t>센싱 허브</a:t>
            </a:r>
            <a:r>
              <a:rPr lang="en-US" altLang="ko-KR" sz="600" b="1" dirty="0">
                <a:solidFill>
                  <a:schemeClr val="bg1"/>
                </a:solidFill>
                <a:latin typeface="SamsungOneKorean 700C" panose="020B0806030303020204" pitchFamily="50" charset="-127"/>
                <a:ea typeface="SamsungOneKorean 700C" panose="020B0806030303020204" pitchFamily="50" charset="-127"/>
                <a:cs typeface="Samsung Sharp Sans Bold" pitchFamily="2" charset="0"/>
              </a:rPr>
              <a:t>]</a:t>
            </a:r>
            <a:r>
              <a:rPr lang="ko-KR" altLang="en-US" sz="600" dirty="0">
                <a:solidFill>
                  <a:schemeClr val="bg1"/>
                </a:solidFill>
                <a:latin typeface="SamsungOneKorean 700C" panose="020B0806030303020204" pitchFamily="50" charset="-127"/>
                <a:ea typeface="SamsungOneKorean 700C" panose="020B0806030303020204" pitchFamily="50" charset="-127"/>
                <a:cs typeface="Samsung Sharp Sans Bold" pitchFamily="2" charset="0"/>
              </a:rPr>
              <a:t>에서 확인하실 수 있습니다</a:t>
            </a:r>
            <a:r>
              <a:rPr lang="en-US" altLang="ko-KR" sz="600" dirty="0">
                <a:solidFill>
                  <a:schemeClr val="bg1"/>
                </a:solidFill>
                <a:latin typeface="SamsungOneKorean 700C" panose="020B0806030303020204" pitchFamily="50" charset="-127"/>
                <a:ea typeface="SamsungOneKorean 700C" panose="020B0806030303020204" pitchFamily="50" charset="-127"/>
                <a:cs typeface="Samsung Sharp Sans Bold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91655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표 3">
            <a:extLst>
              <a:ext uri="{FF2B5EF4-FFF2-40B4-BE49-F238E27FC236}">
                <a16:creationId xmlns:a16="http://schemas.microsoft.com/office/drawing/2014/main" id="{7F8616D5-49AD-42F7-89C0-78A0DEC05C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511995"/>
              </p:ext>
            </p:extLst>
          </p:nvPr>
        </p:nvGraphicFramePr>
        <p:xfrm>
          <a:off x="68925" y="345536"/>
          <a:ext cx="4896000" cy="14695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87921">
                  <a:extLst>
                    <a:ext uri="{9D8B030D-6E8A-4147-A177-3AD203B41FA5}">
                      <a16:colId xmlns:a16="http://schemas.microsoft.com/office/drawing/2014/main" val="2285142228"/>
                    </a:ext>
                  </a:extLst>
                </a:gridCol>
                <a:gridCol w="1008079">
                  <a:extLst>
                    <a:ext uri="{9D8B030D-6E8A-4147-A177-3AD203B41FA5}">
                      <a16:colId xmlns:a16="http://schemas.microsoft.com/office/drawing/2014/main" val="4048088344"/>
                    </a:ext>
                  </a:extLst>
                </a:gridCol>
              </a:tblGrid>
              <a:tr h="365761">
                <a:tc gridSpan="2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2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u="sng" kern="1200">
                          <a:solidFill>
                            <a:srgbClr val="022CB2"/>
                          </a:solidFill>
                          <a:effectLst/>
                          <a:latin typeface="SamsungOneKorean 700" panose="020B0803030303020204" pitchFamily="50" charset="-127"/>
                          <a:ea typeface="SamsungOneKorean 700" panose="020B0803030303020204" pitchFamily="50" charset="-127"/>
                          <a:cs typeface="+mn-cs"/>
                        </a:rPr>
                        <a:t>Claude </a:t>
                      </a:r>
                      <a:r>
                        <a:rPr lang="ko-KR" altLang="en-US" sz="1400" b="0" u="sng" kern="1200">
                          <a:solidFill>
                            <a:srgbClr val="022CB2"/>
                          </a:solidFill>
                          <a:effectLst/>
                          <a:latin typeface="SamsungOneKorean 700" panose="020B0803030303020204" pitchFamily="50" charset="-127"/>
                          <a:ea typeface="SamsungOneKorean 700" panose="020B0803030303020204" pitchFamily="50" charset="-127"/>
                          <a:cs typeface="+mn-cs"/>
                        </a:rPr>
                        <a:t>기업용 코딩 고객을 위한 </a:t>
                      </a:r>
                      <a:r>
                        <a:rPr lang="en-US" altLang="ko-KR" sz="1400" b="0" u="sng" kern="1200">
                          <a:solidFill>
                            <a:srgbClr val="022CB2"/>
                          </a:solidFill>
                          <a:effectLst/>
                          <a:latin typeface="SamsungOneKorean 700" panose="020B0803030303020204" pitchFamily="50" charset="-127"/>
                          <a:ea typeface="SamsungOneKorean 700" panose="020B0803030303020204" pitchFamily="50" charset="-127"/>
                          <a:cs typeface="+mn-cs"/>
                        </a:rPr>
                        <a:t>'Code Review' </a:t>
                      </a:r>
                      <a:r>
                        <a:rPr lang="ko-KR" altLang="en-US" sz="1400" b="0" u="sng" kern="1200">
                          <a:solidFill>
                            <a:srgbClr val="022CB2"/>
                          </a:solidFill>
                          <a:effectLst/>
                          <a:latin typeface="SamsungOneKorean 700" panose="020B0803030303020204" pitchFamily="50" charset="-127"/>
                          <a:ea typeface="SamsungOneKorean 700" panose="020B0803030303020204" pitchFamily="50" charset="-127"/>
                          <a:cs typeface="+mn-cs"/>
                        </a:rPr>
                        <a:t>베타 출시</a:t>
                      </a:r>
                      <a:endParaRPr lang="ko-KR" altLang="en-US" sz="1400" b="0" u="sng" kern="1200" dirty="0">
                        <a:solidFill>
                          <a:srgbClr val="022CB2"/>
                        </a:solidFill>
                        <a:effectLst/>
                        <a:latin typeface="SamsungOneKorean 700" panose="020B0803030303020204" pitchFamily="50" charset="-127"/>
                        <a:ea typeface="SamsungOneKorean 700" panose="020B0803030303020204" pitchFamily="50" charset="-127"/>
                        <a:cs typeface="+mn-cs"/>
                      </a:endParaRPr>
                    </a:p>
                  </a:txBody>
                  <a:tcPr marT="45719" marB="45719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2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1" i="0" u="sng" strike="noStrike" kern="1200" cap="none" spc="50" normalizeH="0" baseline="0" noProof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uLnTx/>
                        <a:uFillTx/>
                        <a:latin typeface="SamsungOneKorean 700C" panose="020B0806030303020204" pitchFamily="50" charset="-127"/>
                        <a:ea typeface="SamsungOneKorean 700C" panose="020B0806030303020204" pitchFamily="50" charset="-127"/>
                        <a:cs typeface="+mn-cs"/>
                      </a:endParaRPr>
                    </a:p>
                  </a:txBody>
                  <a:tcPr marT="45719" marB="45719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251777"/>
                  </a:ext>
                </a:extLst>
              </a:tr>
              <a:tr h="650359">
                <a:tc>
                  <a:txBody>
                    <a:bodyPr/>
                    <a:lstStyle/>
                    <a:p>
                      <a:pPr marL="171450" marR="0" lvl="0" indent="-171450" algn="l" defTabSz="288036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신규 작성된 코드</a:t>
                      </a:r>
                      <a:r>
                        <a:rPr lang="en-US" altLang="ko-KR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 </a:t>
                      </a:r>
                      <a:r>
                        <a:rPr lang="ko-KR" altLang="en-US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내에 포함된 잠재적 이슈와 버그를 탐색</a:t>
                      </a:r>
                      <a:r>
                        <a:rPr lang="en-US" altLang="ko-KR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전체 코드 저장소 반영 전에 자동으로 검토하는 기능 공개</a:t>
                      </a:r>
                      <a:endParaRPr lang="en-US" altLang="ko-KR" sz="1300" b="0" kern="1200" spc="-30" baseline="0" dirty="0">
                        <a:solidFill>
                          <a:schemeClr val="tx1"/>
                        </a:solidFill>
                        <a:latin typeface="SamsungOneKoreanOTF 600" panose="020B0703030303020204" pitchFamily="34" charset="-127"/>
                        <a:ea typeface="SamsungOneKoreanOTF 600" panose="020B0703030303020204" pitchFamily="34" charset="-127"/>
                        <a:cs typeface="+mn-cs"/>
                      </a:endParaRPr>
                    </a:p>
                    <a:p>
                      <a:pPr marL="171450" marR="0" lvl="0" indent="-171450" algn="l" defTabSz="288036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여러 에이전트를 병렬로 코드 분석</a:t>
                      </a:r>
                      <a:r>
                        <a:rPr lang="en-US" altLang="ko-KR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오류 탐지</a:t>
                      </a:r>
                      <a:r>
                        <a:rPr lang="en-US" altLang="ko-KR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결과 통합 등기능을 제공하며 코딩 자동화를 넘어 검토 자동화로 발전</a:t>
                      </a:r>
                      <a:endParaRPr lang="en-US" altLang="ko-KR" sz="1300" b="0" kern="1200" spc="-30" baseline="0" dirty="0">
                        <a:solidFill>
                          <a:schemeClr val="tx1"/>
                        </a:solidFill>
                        <a:latin typeface="SamsungOneKoreanOTF 600" panose="020B0703030303020204" pitchFamily="34" charset="-127"/>
                        <a:ea typeface="SamsungOneKoreanOTF 600" panose="020B0703030303020204" pitchFamily="34" charset="-127"/>
                        <a:cs typeface="+mn-cs"/>
                      </a:endParaRPr>
                    </a:p>
                  </a:txBody>
                  <a:tcPr marT="45719" marB="45719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288036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300" b="0" kern="1200" spc="-30" baseline="0" dirty="0">
                        <a:solidFill>
                          <a:schemeClr val="tx1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  <a:cs typeface="+mn-cs"/>
                      </a:endParaRPr>
                    </a:p>
                  </a:txBody>
                  <a:tcPr marT="45719" marB="45719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26048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5E263A9-C9C7-490B-9712-849084D1D377}"/>
              </a:ext>
            </a:extLst>
          </p:cNvPr>
          <p:cNvSpPr txBox="1"/>
          <p:nvPr/>
        </p:nvSpPr>
        <p:spPr>
          <a:xfrm>
            <a:off x="1825228" y="1706708"/>
            <a:ext cx="2006997" cy="130805"/>
          </a:xfrm>
          <a:prstGeom prst="rect">
            <a:avLst/>
          </a:prstGeom>
          <a:noFill/>
        </p:spPr>
        <p:txBody>
          <a:bodyPr wrap="square" bIns="0">
            <a:spAutoFit/>
          </a:bodyPr>
          <a:lstStyle/>
          <a:p>
            <a:r>
              <a:rPr lang="en-US" altLang="ko-KR" sz="550" spc="-20" dirty="0">
                <a:solidFill>
                  <a:schemeClr val="tx1">
                    <a:lumMod val="65000"/>
                    <a:lumOff val="35000"/>
                  </a:schemeClr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* Anthropic</a:t>
            </a:r>
            <a:r>
              <a:rPr lang="ko-KR" altLang="en-US" sz="550" spc="-20" dirty="0">
                <a:solidFill>
                  <a:schemeClr val="tx1">
                    <a:lumMod val="65000"/>
                    <a:lumOff val="35000"/>
                  </a:schemeClr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社는  자사 </a:t>
            </a:r>
            <a:r>
              <a:rPr lang="en-US" altLang="ko-KR" sz="550" spc="-20" dirty="0">
                <a:solidFill>
                  <a:schemeClr val="tx1">
                    <a:lumMod val="65000"/>
                    <a:lumOff val="35000"/>
                  </a:schemeClr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SW </a:t>
            </a:r>
            <a:r>
              <a:rPr lang="ko-KR" altLang="en-US" sz="550" spc="-20" dirty="0">
                <a:solidFill>
                  <a:schemeClr val="tx1">
                    <a:lumMod val="65000"/>
                    <a:lumOff val="35000"/>
                  </a:schemeClr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개발에 적용하여 생산성 </a:t>
            </a:r>
            <a:r>
              <a:rPr lang="en-US" altLang="ko-KR" sz="550" spc="-20" dirty="0">
                <a:solidFill>
                  <a:schemeClr val="tx1">
                    <a:lumMod val="65000"/>
                    <a:lumOff val="35000"/>
                  </a:schemeClr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200% </a:t>
            </a:r>
            <a:r>
              <a:rPr lang="ko-KR" altLang="en-US" sz="550" spc="-20" dirty="0">
                <a:solidFill>
                  <a:schemeClr val="tx1">
                    <a:lumMod val="65000"/>
                    <a:lumOff val="35000"/>
                  </a:schemeClr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증가했다고 공개 </a:t>
            </a:r>
          </a:p>
        </p:txBody>
      </p:sp>
      <p:pic>
        <p:nvPicPr>
          <p:cNvPr id="7" name="Picture 2" descr="Claude Code adds automated AI reviewers to analyze developer code">
            <a:extLst>
              <a:ext uri="{FF2B5EF4-FFF2-40B4-BE49-F238E27FC236}">
                <a16:creationId xmlns:a16="http://schemas.microsoft.com/office/drawing/2014/main" id="{1ACC61AE-647D-4686-A832-DE06BB98D5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38" r="19838"/>
          <a:stretch>
            <a:fillRect/>
          </a:stretch>
        </p:blipFill>
        <p:spPr bwMode="auto">
          <a:xfrm>
            <a:off x="3885325" y="796388"/>
            <a:ext cx="975600" cy="93240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6434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표 3">
            <a:extLst>
              <a:ext uri="{FF2B5EF4-FFF2-40B4-BE49-F238E27FC236}">
                <a16:creationId xmlns:a16="http://schemas.microsoft.com/office/drawing/2014/main" id="{7F8616D5-49AD-42F7-89C0-78A0DEC05C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0755519"/>
              </p:ext>
            </p:extLst>
          </p:nvPr>
        </p:nvGraphicFramePr>
        <p:xfrm>
          <a:off x="72875" y="344616"/>
          <a:ext cx="4896000" cy="14695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87921">
                  <a:extLst>
                    <a:ext uri="{9D8B030D-6E8A-4147-A177-3AD203B41FA5}">
                      <a16:colId xmlns:a16="http://schemas.microsoft.com/office/drawing/2014/main" val="2285142228"/>
                    </a:ext>
                  </a:extLst>
                </a:gridCol>
                <a:gridCol w="1008079">
                  <a:extLst>
                    <a:ext uri="{9D8B030D-6E8A-4147-A177-3AD203B41FA5}">
                      <a16:colId xmlns:a16="http://schemas.microsoft.com/office/drawing/2014/main" val="4048088344"/>
                    </a:ext>
                  </a:extLst>
                </a:gridCol>
              </a:tblGrid>
              <a:tr h="365761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2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u="sng" kern="1200" noProof="0" dirty="0">
                          <a:solidFill>
                            <a:srgbClr val="022CB2"/>
                          </a:solidFill>
                          <a:effectLst/>
                          <a:latin typeface="SamsungOneKorean 700" panose="020B0803030303020204" pitchFamily="50" charset="-127"/>
                          <a:ea typeface="SamsungOneKorean 700" panose="020B0803030303020204" pitchFamily="50" charset="-127"/>
                          <a:cs typeface="+mn-cs"/>
                        </a:rPr>
                        <a:t>MIT, AI </a:t>
                      </a:r>
                      <a:r>
                        <a:rPr lang="ko-KR" altLang="en-US" sz="1400" b="0" u="sng" kern="1200" noProof="0" dirty="0">
                          <a:solidFill>
                            <a:srgbClr val="022CB2"/>
                          </a:solidFill>
                          <a:effectLst/>
                          <a:latin typeface="SamsungOneKorean 700" panose="020B0803030303020204" pitchFamily="50" charset="-127"/>
                          <a:ea typeface="SamsungOneKorean 700" panose="020B0803030303020204" pitchFamily="50" charset="-127"/>
                          <a:cs typeface="+mn-cs"/>
                        </a:rPr>
                        <a:t>모델의 예측 신뢰성 향상 방안 개발 </a:t>
                      </a:r>
                    </a:p>
                  </a:txBody>
                  <a:tcPr marT="45719" marB="45719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2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1" i="0" u="sng" strike="noStrike" kern="1200" cap="none" spc="50" normalizeH="0" baseline="0" noProof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uLnTx/>
                        <a:uFillTx/>
                        <a:latin typeface="SamsungOneKorean 700C" panose="020B0806030303020204" pitchFamily="50" charset="-127"/>
                        <a:ea typeface="SamsungOneKorean 700C" panose="020B0806030303020204" pitchFamily="50" charset="-127"/>
                        <a:cs typeface="+mn-cs"/>
                      </a:endParaRPr>
                    </a:p>
                  </a:txBody>
                  <a:tcPr marT="45719" marB="45719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251777"/>
                  </a:ext>
                </a:extLst>
              </a:tr>
              <a:tr h="650359">
                <a:tc>
                  <a:txBody>
                    <a:bodyPr/>
                    <a:lstStyle/>
                    <a:p>
                      <a:pPr marL="171450" marR="0" lvl="0" indent="-171450" algn="l" defTabSz="288036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AI</a:t>
                      </a:r>
                      <a:r>
                        <a:rPr lang="ko-KR" altLang="en-US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가 학습한 컨셉을 추출 후</a:t>
                      </a:r>
                      <a:r>
                        <a:rPr lang="en-US" altLang="ko-KR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사람이 이해 가능한 언어로 </a:t>
                      </a:r>
                      <a:br>
                        <a:rPr lang="en-US" altLang="ko-KR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</a:br>
                      <a:r>
                        <a:rPr lang="ko-KR" altLang="en-US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변환</a:t>
                      </a:r>
                      <a:r>
                        <a:rPr lang="en-US" altLang="ko-KR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추출 컨셉 기반 훈련으로 해당 컨셉 사용</a:t>
                      </a:r>
                      <a:r>
                        <a:rPr lang="en-US" altLang="ko-KR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/</a:t>
                      </a:r>
                      <a:r>
                        <a:rPr lang="ko-KR" altLang="en-US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예측 지원 </a:t>
                      </a:r>
                      <a:endParaRPr lang="en-US" altLang="ko-KR" sz="1300" b="0" kern="1200" spc="-30" baseline="0" dirty="0">
                        <a:solidFill>
                          <a:schemeClr val="tx1"/>
                        </a:solidFill>
                        <a:latin typeface="SamsungOneKoreanOTF 600" panose="020B0703030303020204" pitchFamily="34" charset="-127"/>
                        <a:ea typeface="SamsungOneKoreanOTF 600" panose="020B0703030303020204" pitchFamily="34" charset="-127"/>
                        <a:cs typeface="+mn-cs"/>
                      </a:endParaRPr>
                    </a:p>
                    <a:p>
                      <a:pPr marL="171450" marR="0" lvl="0" indent="-171450" algn="l" defTabSz="288036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AI </a:t>
                      </a:r>
                      <a:r>
                        <a:rPr lang="ko-KR" altLang="en-US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모델의 의사결정 과정에 대한 이해도 향상</a:t>
                      </a:r>
                      <a:r>
                        <a:rPr lang="en-US" altLang="ko-KR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특정 작업에 적합한 컨셉 선택으로 연산 정확도</a:t>
                      </a:r>
                      <a:r>
                        <a:rPr lang="en-US" altLang="ko-KR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∙</a:t>
                      </a:r>
                      <a:r>
                        <a:rPr lang="ko-KR" altLang="en-US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효율성 증가 등이 가능</a:t>
                      </a:r>
                      <a:endParaRPr lang="en-US" altLang="ko-KR" sz="1300" b="0" kern="1200" spc="-30" baseline="0" dirty="0">
                        <a:solidFill>
                          <a:schemeClr val="tx1"/>
                        </a:solidFill>
                        <a:latin typeface="SamsungOneKoreanOTF 600" panose="020B0703030303020204" pitchFamily="34" charset="-127"/>
                        <a:ea typeface="SamsungOneKoreanOTF 600" panose="020B0703030303020204" pitchFamily="34" charset="-127"/>
                        <a:cs typeface="+mn-cs"/>
                      </a:endParaRPr>
                    </a:p>
                  </a:txBody>
                  <a:tcPr marT="45719" marB="45719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288036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300" b="0" kern="1200" spc="-30" baseline="0" dirty="0">
                        <a:solidFill>
                          <a:schemeClr val="tx1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  <a:cs typeface="+mn-cs"/>
                      </a:endParaRPr>
                    </a:p>
                  </a:txBody>
                  <a:tcPr marT="45719" marB="45719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260487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D860192B-E305-4D80-9962-4A02F36B900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887788" y="792163"/>
            <a:ext cx="969264" cy="932688"/>
          </a:xfrm>
          <a:prstGeom prst="roundRect">
            <a:avLst/>
          </a:prstGeom>
        </p:spPr>
      </p:pic>
      <p:grpSp>
        <p:nvGrpSpPr>
          <p:cNvPr id="4" name="Group 2">
            <a:extLst>
              <a:ext uri="{FF2B5EF4-FFF2-40B4-BE49-F238E27FC236}">
                <a16:creationId xmlns:a16="http://schemas.microsoft.com/office/drawing/2014/main" id="{76B0CC05-B4DC-4EAB-9B9E-4807CE52D3E4}"/>
              </a:ext>
            </a:extLst>
          </p:cNvPr>
          <p:cNvGrpSpPr/>
          <p:nvPr/>
        </p:nvGrpSpPr>
        <p:grpSpPr>
          <a:xfrm>
            <a:off x="4500925" y="448735"/>
            <a:ext cx="374503" cy="184666"/>
            <a:chOff x="4500925" y="448735"/>
            <a:chExt cx="374503" cy="184666"/>
          </a:xfrm>
        </p:grpSpPr>
        <p:pic>
          <p:nvPicPr>
            <p:cNvPr id="5" name="그림 36">
              <a:extLst>
                <a:ext uri="{FF2B5EF4-FFF2-40B4-BE49-F238E27FC236}">
                  <a16:creationId xmlns:a16="http://schemas.microsoft.com/office/drawing/2014/main" id="{B34B9D39-2692-4BD3-87E7-B30FD525E547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4784800" y="535668"/>
              <a:ext cx="144000" cy="10800"/>
            </a:xfrm>
            <a:prstGeom prst="rect">
              <a:avLst/>
            </a:prstGeom>
          </p:spPr>
        </p:pic>
        <p:pic>
          <p:nvPicPr>
            <p:cNvPr id="6" name="그림 36">
              <a:extLst>
                <a:ext uri="{FF2B5EF4-FFF2-40B4-BE49-F238E27FC236}">
                  <a16:creationId xmlns:a16="http://schemas.microsoft.com/office/drawing/2014/main" id="{B268CC21-91A8-4D8D-AA4E-35B19C37A35F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4434325" y="537573"/>
              <a:ext cx="144000" cy="10800"/>
            </a:xfrm>
            <a:prstGeom prst="rect">
              <a:avLst/>
            </a:prstGeom>
          </p:spPr>
        </p:pic>
        <p:sp>
          <p:nvSpPr>
            <p:cNvPr id="7" name="Rectangle 12">
              <a:extLst>
                <a:ext uri="{FF2B5EF4-FFF2-40B4-BE49-F238E27FC236}">
                  <a16:creationId xmlns:a16="http://schemas.microsoft.com/office/drawing/2014/main" id="{0FAF252C-8409-434A-B2AB-56BB2894FCBF}"/>
                </a:ext>
              </a:extLst>
            </p:cNvPr>
            <p:cNvSpPr/>
            <p:nvPr/>
          </p:nvSpPr>
          <p:spPr>
            <a:xfrm>
              <a:off x="4500925" y="448735"/>
              <a:ext cx="374503" cy="18466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rgbClr val="022CB2"/>
                  </a:solidFill>
                  <a:latin typeface="Samsung Sharp Sans Bold" pitchFamily="2" charset="0"/>
                  <a:ea typeface="Samsung Sharp Sans Bold" pitchFamily="2" charset="0"/>
                  <a:cs typeface="Samsung Sharp Sans Bold" pitchFamily="2" charset="0"/>
                </a:rPr>
                <a:t>SRA</a:t>
              </a:r>
              <a:endParaRPr lang="ko-KR" altLang="en-US" sz="600" dirty="0">
                <a:solidFill>
                  <a:srgbClr val="022CB2"/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endParaRPr>
            </a:p>
          </p:txBody>
        </p:sp>
        <p:pic>
          <p:nvPicPr>
            <p:cNvPr id="8" name="그림 36">
              <a:extLst>
                <a:ext uri="{FF2B5EF4-FFF2-40B4-BE49-F238E27FC236}">
                  <a16:creationId xmlns:a16="http://schemas.microsoft.com/office/drawing/2014/main" id="{0255053D-942D-496F-9020-40CD1785CCAC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500925" y="468313"/>
              <a:ext cx="360000" cy="10800"/>
            </a:xfrm>
            <a:prstGeom prst="rect">
              <a:avLst/>
            </a:prstGeom>
          </p:spPr>
        </p:pic>
        <p:pic>
          <p:nvPicPr>
            <p:cNvPr id="9" name="그림 36">
              <a:extLst>
                <a:ext uri="{FF2B5EF4-FFF2-40B4-BE49-F238E27FC236}">
                  <a16:creationId xmlns:a16="http://schemas.microsoft.com/office/drawing/2014/main" id="{BE82C1F1-7B93-4EB0-B52F-C3BABB7CCFB8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500925" y="608648"/>
              <a:ext cx="360000" cy="10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57901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표 3">
            <a:extLst>
              <a:ext uri="{FF2B5EF4-FFF2-40B4-BE49-F238E27FC236}">
                <a16:creationId xmlns:a16="http://schemas.microsoft.com/office/drawing/2014/main" id="{7F8616D5-49AD-42F7-89C0-78A0DEC05C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0122682"/>
              </p:ext>
            </p:extLst>
          </p:nvPr>
        </p:nvGraphicFramePr>
        <p:xfrm>
          <a:off x="68925" y="345536"/>
          <a:ext cx="4896000" cy="14695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87921">
                  <a:extLst>
                    <a:ext uri="{9D8B030D-6E8A-4147-A177-3AD203B41FA5}">
                      <a16:colId xmlns:a16="http://schemas.microsoft.com/office/drawing/2014/main" val="2285142228"/>
                    </a:ext>
                  </a:extLst>
                </a:gridCol>
                <a:gridCol w="1008079">
                  <a:extLst>
                    <a:ext uri="{9D8B030D-6E8A-4147-A177-3AD203B41FA5}">
                      <a16:colId xmlns:a16="http://schemas.microsoft.com/office/drawing/2014/main" val="4048088344"/>
                    </a:ext>
                  </a:extLst>
                </a:gridCol>
              </a:tblGrid>
              <a:tr h="365761">
                <a:tc gridSpan="2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2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u="sng" kern="1200" dirty="0">
                          <a:solidFill>
                            <a:srgbClr val="022CB2"/>
                          </a:solidFill>
                          <a:effectLst/>
                          <a:latin typeface="SamsungOneKorean 700" panose="020B0803030303020204" pitchFamily="50" charset="-127"/>
                          <a:ea typeface="SamsungOneKorean 700" panose="020B0803030303020204" pitchFamily="50" charset="-127"/>
                          <a:cs typeface="+mn-cs"/>
                        </a:rPr>
                        <a:t>Gartner, AI</a:t>
                      </a:r>
                      <a:r>
                        <a:rPr lang="ko-KR" altLang="en-US" sz="1400" b="0" u="sng" kern="1200" dirty="0">
                          <a:solidFill>
                            <a:srgbClr val="022CB2"/>
                          </a:solidFill>
                          <a:effectLst/>
                          <a:latin typeface="SamsungOneKorean 700" panose="020B0803030303020204" pitchFamily="50" charset="-127"/>
                          <a:ea typeface="SamsungOneKorean 700" panose="020B0803030303020204" pitchFamily="50" charset="-127"/>
                          <a:cs typeface="+mn-cs"/>
                        </a:rPr>
                        <a:t>의</a:t>
                      </a:r>
                      <a:r>
                        <a:rPr lang="en-US" altLang="ko-KR" sz="1400" b="0" u="sng" kern="1200" dirty="0">
                          <a:solidFill>
                            <a:srgbClr val="022CB2"/>
                          </a:solidFill>
                          <a:effectLst/>
                          <a:latin typeface="SamsungOneKorean 700" panose="020B0803030303020204" pitchFamily="50" charset="-127"/>
                          <a:ea typeface="SamsungOneKorean 700" panose="020B0803030303020204" pitchFamily="50" charset="-127"/>
                          <a:cs typeface="+mn-cs"/>
                        </a:rPr>
                        <a:t> ROI </a:t>
                      </a:r>
                      <a:r>
                        <a:rPr lang="ko-KR" altLang="en-US" sz="1400" b="0" u="sng" kern="1200" dirty="0">
                          <a:solidFill>
                            <a:srgbClr val="022CB2"/>
                          </a:solidFill>
                          <a:effectLst/>
                          <a:latin typeface="SamsungOneKorean 700" panose="020B0803030303020204" pitchFamily="50" charset="-127"/>
                          <a:ea typeface="SamsungOneKorean 700" panose="020B0803030303020204" pitchFamily="50" charset="-127"/>
                          <a:cs typeface="+mn-cs"/>
                        </a:rPr>
                        <a:t>높이는 세 가지 실행 축 제안</a:t>
                      </a:r>
                    </a:p>
                  </a:txBody>
                  <a:tcPr marT="45719" marB="45719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2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1" i="0" u="sng" strike="noStrike" kern="1200" cap="none" spc="50" normalizeH="0" baseline="0" noProof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uLnTx/>
                        <a:uFillTx/>
                        <a:latin typeface="SamsungOneKorean 700C" panose="020B0806030303020204" pitchFamily="50" charset="-127"/>
                        <a:ea typeface="SamsungOneKorean 700C" panose="020B0806030303020204" pitchFamily="50" charset="-127"/>
                        <a:cs typeface="+mn-cs"/>
                      </a:endParaRPr>
                    </a:p>
                  </a:txBody>
                  <a:tcPr marT="45719" marB="45719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251777"/>
                  </a:ext>
                </a:extLst>
              </a:tr>
              <a:tr h="650359">
                <a:tc>
                  <a:txBody>
                    <a:bodyPr/>
                    <a:lstStyle/>
                    <a:p>
                      <a:pPr marL="171450" marR="0" lvl="0" indent="-171450" algn="l" defTabSz="288036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AI </a:t>
                      </a:r>
                      <a:r>
                        <a:rPr lang="ko-KR" altLang="en-US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가치 창출을 위해 </a:t>
                      </a:r>
                      <a:r>
                        <a:rPr lang="en-US" altLang="ko-KR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AI Ambition </a:t>
                      </a:r>
                      <a:r>
                        <a:rPr lang="ko-KR" altLang="en-US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설정</a:t>
                      </a:r>
                      <a:r>
                        <a:rPr lang="en-US" altLang="ko-KR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,</a:t>
                      </a:r>
                      <a:r>
                        <a:rPr lang="ko-KR" altLang="en-US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AI Foundations </a:t>
                      </a:r>
                      <a:r>
                        <a:rPr lang="ko-KR" altLang="en-US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강화</a:t>
                      </a:r>
                      <a:r>
                        <a:rPr lang="en-US" altLang="ko-KR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,</a:t>
                      </a:r>
                      <a:r>
                        <a:rPr lang="ko-KR" altLang="en-US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 </a:t>
                      </a:r>
                      <a:r>
                        <a:rPr lang="en-US" altLang="ko-KR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People </a:t>
                      </a:r>
                      <a:r>
                        <a:rPr lang="ko-KR" altLang="en-US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역량 강화의 </a:t>
                      </a:r>
                      <a:r>
                        <a:rPr lang="en-US" altLang="ko-KR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3</a:t>
                      </a:r>
                      <a:r>
                        <a:rPr lang="ko-KR" altLang="en-US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대 축과 각 축의 </a:t>
                      </a:r>
                      <a:r>
                        <a:rPr lang="en-US" altLang="ko-KR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ROI </a:t>
                      </a:r>
                      <a:r>
                        <a:rPr lang="ko-KR" altLang="en-US" sz="1300" b="0" kern="1200" spc="-3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개념 제시</a:t>
                      </a:r>
                      <a:endParaRPr lang="en-US" altLang="ko-KR" sz="1300" b="0" kern="1200" spc="-30" baseline="0" dirty="0">
                        <a:solidFill>
                          <a:schemeClr val="tx1"/>
                        </a:solidFill>
                        <a:latin typeface="SamsungOneKoreanOTF 600" panose="020B0703030303020204" pitchFamily="34" charset="-127"/>
                        <a:ea typeface="SamsungOneKoreanOTF 600" panose="020B0703030303020204" pitchFamily="34" charset="-127"/>
                        <a:cs typeface="+mn-cs"/>
                      </a:endParaRPr>
                    </a:p>
                    <a:p>
                      <a:pPr marL="171450" marR="0" lvl="0" indent="-171450" algn="l" defTabSz="288036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300" b="0" kern="1200" spc="-6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인사이트 기반 목표 설정과 데이터</a:t>
                      </a:r>
                      <a:r>
                        <a:rPr lang="en-US" altLang="ko-KR" sz="1300" b="0" kern="1200" spc="-6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/</a:t>
                      </a:r>
                      <a:r>
                        <a:rPr lang="ko-KR" altLang="en-US" sz="1300" b="0" kern="1200" spc="-6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거버넌스 통합 컨텍스트로 </a:t>
                      </a:r>
                      <a:r>
                        <a:rPr lang="ko-KR" altLang="en-US" sz="1300" b="0" kern="1200" spc="-50" baseline="0" dirty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신뢰 확보 및 스킬 중심 변화관리와 퓨전팀으로 조직 전환 必 </a:t>
                      </a:r>
                      <a:endParaRPr lang="en-US" altLang="ko-KR" sz="1300" b="0" kern="1200" spc="-50" baseline="0" dirty="0">
                        <a:solidFill>
                          <a:schemeClr val="tx1"/>
                        </a:solidFill>
                        <a:latin typeface="SamsungOneKoreanOTF 600" panose="020B0703030303020204" pitchFamily="34" charset="-127"/>
                        <a:ea typeface="SamsungOneKoreanOTF 600" panose="020B0703030303020204" pitchFamily="34" charset="-127"/>
                        <a:cs typeface="+mn-cs"/>
                      </a:endParaRPr>
                    </a:p>
                  </a:txBody>
                  <a:tcPr marT="45719" marB="45719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288036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300" b="0" kern="1200" spc="-30" baseline="0" dirty="0">
                        <a:solidFill>
                          <a:schemeClr val="tx1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  <a:cs typeface="+mn-cs"/>
                      </a:endParaRPr>
                    </a:p>
                  </a:txBody>
                  <a:tcPr marT="45719" marB="45719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260487"/>
                  </a:ext>
                </a:extLst>
              </a:tr>
            </a:tbl>
          </a:graphicData>
        </a:graphic>
      </p:graphicFrame>
      <p:pic>
        <p:nvPicPr>
          <p:cNvPr id="4" name="Picture 8" descr="Gartner Newsroom: Gartner Identifies Three Pillars for Deriving Value from  AI #GartnerNewsroom">
            <a:extLst>
              <a:ext uri="{FF2B5EF4-FFF2-40B4-BE49-F238E27FC236}">
                <a16:creationId xmlns:a16="http://schemas.microsoft.com/office/drawing/2014/main" id="{80C9D4FE-17C1-4E5C-B7BB-5AD3BD4A7C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49" t="-21212" r="11884" b="-24503"/>
          <a:stretch/>
        </p:blipFill>
        <p:spPr bwMode="auto">
          <a:xfrm>
            <a:off x="3907811" y="796388"/>
            <a:ext cx="975600" cy="932400"/>
          </a:xfrm>
          <a:prstGeom prst="roundRect">
            <a:avLst/>
          </a:prstGeom>
          <a:solidFill>
            <a:srgbClr val="002957"/>
          </a:solidFill>
        </p:spPr>
      </p:pic>
    </p:spTree>
    <p:extLst>
      <p:ext uri="{BB962C8B-B14F-4D97-AF65-F5344CB8AC3E}">
        <p14:creationId xmlns:p14="http://schemas.microsoft.com/office/powerpoint/2010/main" val="1475397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표 3">
            <a:extLst>
              <a:ext uri="{FF2B5EF4-FFF2-40B4-BE49-F238E27FC236}">
                <a16:creationId xmlns:a16="http://schemas.microsoft.com/office/drawing/2014/main" id="{7F8616D5-49AD-42F7-89C0-78A0DEC05C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351765"/>
              </p:ext>
            </p:extLst>
          </p:nvPr>
        </p:nvGraphicFramePr>
        <p:xfrm>
          <a:off x="68925" y="345536"/>
          <a:ext cx="4896000" cy="14695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87921">
                  <a:extLst>
                    <a:ext uri="{9D8B030D-6E8A-4147-A177-3AD203B41FA5}">
                      <a16:colId xmlns:a16="http://schemas.microsoft.com/office/drawing/2014/main" val="2285142228"/>
                    </a:ext>
                  </a:extLst>
                </a:gridCol>
                <a:gridCol w="1008079">
                  <a:extLst>
                    <a:ext uri="{9D8B030D-6E8A-4147-A177-3AD203B41FA5}">
                      <a16:colId xmlns:a16="http://schemas.microsoft.com/office/drawing/2014/main" val="4048088344"/>
                    </a:ext>
                  </a:extLst>
                </a:gridCol>
              </a:tblGrid>
              <a:tr h="365761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2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u="sng" kern="1200" dirty="0">
                          <a:solidFill>
                            <a:srgbClr val="022CB2"/>
                          </a:solidFill>
                          <a:effectLst/>
                          <a:latin typeface="SamsungOneKorean 700" panose="020B0803030303020204" pitchFamily="50" charset="-127"/>
                          <a:ea typeface="SamsungOneKorean 700" panose="020B0803030303020204" pitchFamily="50" charset="-127"/>
                          <a:cs typeface="+mn-cs"/>
                        </a:rPr>
                        <a:t>ABB</a:t>
                      </a:r>
                      <a:r>
                        <a:rPr lang="ko-KR" altLang="en-US" sz="1400" b="0" u="sng" kern="1200" dirty="0">
                          <a:solidFill>
                            <a:srgbClr val="022CB2"/>
                          </a:solidFill>
                          <a:effectLst/>
                          <a:latin typeface="SamsungOneKorean 700" panose="020B0803030303020204" pitchFamily="50" charset="-127"/>
                          <a:ea typeface="SamsungOneKorean 700" panose="020B0803030303020204" pitchFamily="50" charset="-127"/>
                          <a:cs typeface="+mn-cs"/>
                        </a:rPr>
                        <a:t>社</a:t>
                      </a:r>
                      <a:r>
                        <a:rPr lang="en-US" altLang="ko-KR" sz="1400" b="0" u="sng" kern="1200" dirty="0">
                          <a:solidFill>
                            <a:srgbClr val="022CB2"/>
                          </a:solidFill>
                          <a:effectLst/>
                          <a:latin typeface="SamsungOneKorean 700" panose="020B0803030303020204" pitchFamily="50" charset="-127"/>
                          <a:ea typeface="SamsungOneKorean 700" panose="020B08030303030202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b="0" u="sng" kern="1200" dirty="0">
                          <a:solidFill>
                            <a:srgbClr val="022CB2"/>
                          </a:solidFill>
                          <a:effectLst/>
                          <a:latin typeface="SamsungOneKorean 700" panose="020B0803030303020204" pitchFamily="50" charset="-127"/>
                          <a:ea typeface="SamsungOneKorean 700" panose="020B0803030303020204" pitchFamily="50" charset="-127"/>
                          <a:cs typeface="+mn-cs"/>
                        </a:rPr>
                        <a:t>공장 로봇 교육 개선을 위해 엔비디아와 협력</a:t>
                      </a:r>
                    </a:p>
                  </a:txBody>
                  <a:tcPr marT="45719" marB="45719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2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1" i="0" u="sng" strike="noStrike" kern="1200" cap="none" spc="50" normalizeH="0" baseline="0" noProof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uLnTx/>
                        <a:uFillTx/>
                        <a:latin typeface="SamsungOneKorean 700C" panose="020B0806030303020204" pitchFamily="50" charset="-127"/>
                        <a:ea typeface="SamsungOneKorean 700C" panose="020B0806030303020204" pitchFamily="50" charset="-127"/>
                        <a:cs typeface="+mn-cs"/>
                      </a:endParaRPr>
                    </a:p>
                  </a:txBody>
                  <a:tcPr marT="45719" marB="45719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251777"/>
                  </a:ext>
                </a:extLst>
              </a:tr>
              <a:tr h="650359">
                <a:tc>
                  <a:txBody>
                    <a:bodyPr/>
                    <a:lstStyle/>
                    <a:p>
                      <a:pPr marL="171450" marR="0" lvl="0" indent="-171450" algn="l" defTabSz="288036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로봇의 훈련 환경을 더 현실적으로 구현해 주변 환경 정보가 </a:t>
                      </a:r>
                      <a:br>
                        <a:rPr lang="en-US" altLang="ko-KR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</a:br>
                      <a:r>
                        <a:rPr lang="ko-KR" altLang="en-US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제한적일때 정확성</a:t>
                      </a:r>
                      <a:r>
                        <a:rPr lang="en-US" altLang="ko-KR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반복성</a:t>
                      </a:r>
                      <a:r>
                        <a:rPr lang="en-US" altLang="ko-KR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속도가 저하되는 문제 해결</a:t>
                      </a:r>
                      <a:endParaRPr lang="en-US" altLang="ko-KR" sz="1300" b="0" kern="1200" spc="-30" baseline="0">
                        <a:solidFill>
                          <a:schemeClr val="tx1"/>
                        </a:solidFill>
                        <a:latin typeface="SamsungOneKoreanOTF 600" panose="020B0703030303020204" pitchFamily="34" charset="-127"/>
                        <a:ea typeface="SamsungOneKoreanOTF 600" panose="020B0703030303020204" pitchFamily="34" charset="-127"/>
                        <a:cs typeface="+mn-cs"/>
                      </a:endParaRPr>
                    </a:p>
                    <a:p>
                      <a:pPr marL="171450" marR="0" lvl="0" indent="-171450" algn="l" defTabSz="288036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시뮬레이션과 실제 공장 환경 간의 격차를 줄여 물리적 </a:t>
                      </a:r>
                      <a:br>
                        <a:rPr lang="en-US" altLang="ko-KR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</a:br>
                      <a:r>
                        <a:rPr lang="ko-KR" altLang="en-US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프로토타입 필요성 감소</a:t>
                      </a:r>
                      <a:r>
                        <a:rPr lang="en-US" altLang="ko-KR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비용 절감 및 시장 출시 시간 단축</a:t>
                      </a:r>
                      <a:endParaRPr lang="en-US" altLang="ko-KR" sz="1300" b="0" kern="1200" spc="-30" baseline="0" dirty="0">
                        <a:solidFill>
                          <a:schemeClr val="tx1"/>
                        </a:solidFill>
                        <a:latin typeface="SamsungOneKoreanOTF 600" panose="020B0703030303020204" pitchFamily="34" charset="-127"/>
                        <a:ea typeface="SamsungOneKoreanOTF 600" panose="020B0703030303020204" pitchFamily="34" charset="-127"/>
                        <a:cs typeface="+mn-cs"/>
                      </a:endParaRPr>
                    </a:p>
                  </a:txBody>
                  <a:tcPr marT="45719" marB="45719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288036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300" b="0" kern="1200" spc="-30" baseline="0" dirty="0">
                        <a:solidFill>
                          <a:schemeClr val="tx1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  <a:cs typeface="+mn-cs"/>
                      </a:endParaRPr>
                    </a:p>
                  </a:txBody>
                  <a:tcPr marT="45719" marB="45719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260487"/>
                  </a:ext>
                </a:extLst>
              </a:tr>
            </a:tbl>
          </a:graphicData>
        </a:graphic>
      </p:graphicFrame>
      <p:sp>
        <p:nvSpPr>
          <p:cNvPr id="4" name="직사각형 11">
            <a:extLst>
              <a:ext uri="{FF2B5EF4-FFF2-40B4-BE49-F238E27FC236}">
                <a16:creationId xmlns:a16="http://schemas.microsoft.com/office/drawing/2014/main" id="{242E8C4A-1429-41CC-8FF1-5795102AC5A0}"/>
              </a:ext>
            </a:extLst>
          </p:cNvPr>
          <p:cNvSpPr/>
          <p:nvPr/>
        </p:nvSpPr>
        <p:spPr>
          <a:xfrm>
            <a:off x="1334890" y="903322"/>
            <a:ext cx="2379443" cy="176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50" b="0" i="0" u="none" strike="noStrike" kern="1200" cap="none" spc="-2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amsungOneKorean 600C" panose="020B0706030303020204" pitchFamily="50" charset="-127"/>
                <a:ea typeface="SamsungOneKorean 600C" panose="020B0706030303020204" pitchFamily="50" charset="-127"/>
                <a:cs typeface="+mn-cs"/>
              </a:rPr>
              <a:t>* Nvidia</a:t>
            </a:r>
            <a:r>
              <a:rPr kumimoji="0" lang="ko-KR" altLang="en-US" sz="550" b="0" i="0" u="none" strike="noStrike" kern="1200" cap="none" spc="-2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amsungOneKorean 600C" panose="020B0706030303020204" pitchFamily="50" charset="-127"/>
                <a:ea typeface="SamsungOneKorean 600C" panose="020B0706030303020204" pitchFamily="50" charset="-127"/>
                <a:cs typeface="+mn-cs"/>
              </a:rPr>
              <a:t>의 </a:t>
            </a:r>
            <a:r>
              <a:rPr lang="en-US" altLang="ko-KR" sz="550" spc="-20" dirty="0">
                <a:solidFill>
                  <a:prstClr val="black">
                    <a:lumMod val="65000"/>
                    <a:lumOff val="35000"/>
                  </a:prstClr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Omniverse </a:t>
            </a:r>
            <a:r>
              <a:rPr lang="ko-KR" altLang="en-US" sz="550" spc="-20" dirty="0">
                <a:solidFill>
                  <a:prstClr val="black">
                    <a:lumMod val="65000"/>
                    <a:lumOff val="35000"/>
                  </a:prstClr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데이터 라이브러리 활용</a:t>
            </a:r>
            <a:r>
              <a:rPr lang="en-US" altLang="ko-KR" sz="550" spc="-20" dirty="0">
                <a:solidFill>
                  <a:prstClr val="black">
                    <a:lumMod val="65000"/>
                    <a:lumOff val="35000"/>
                  </a:prstClr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, </a:t>
            </a:r>
            <a:r>
              <a:rPr lang="ko-KR" altLang="en-US" sz="550" spc="-20" dirty="0">
                <a:solidFill>
                  <a:prstClr val="black">
                    <a:lumMod val="65000"/>
                    <a:lumOff val="35000"/>
                  </a:prstClr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업무 환경의 조명∙ 그림자∙ 질감 등을 표현</a:t>
            </a:r>
            <a:endParaRPr kumimoji="0" lang="ko-KR" altLang="en-US" sz="550" b="0" i="0" u="none" strike="noStrike" kern="1200" cap="none" spc="-2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amsungOneKorean 600C" panose="020B0706030303020204" pitchFamily="50" charset="-127"/>
              <a:ea typeface="SamsungOneKorean 600C" panose="020B0706030303020204" pitchFamily="50" charset="-127"/>
              <a:cs typeface="+mn-cs"/>
            </a:endParaRPr>
          </a:p>
        </p:txBody>
      </p:sp>
      <p:pic>
        <p:nvPicPr>
          <p:cNvPr id="5" name="그림 개체 틀 4">
            <a:extLst>
              <a:ext uri="{FF2B5EF4-FFF2-40B4-BE49-F238E27FC236}">
                <a16:creationId xmlns:a16="http://schemas.microsoft.com/office/drawing/2014/main" id="{372CAD0A-351E-49F7-A686-386E615DBE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30" b="930"/>
          <a:stretch/>
        </p:blipFill>
        <p:spPr>
          <a:xfrm>
            <a:off x="3887788" y="796388"/>
            <a:ext cx="975600" cy="932400"/>
          </a:xfrm>
          <a:prstGeom prst="roundRect">
            <a:avLst/>
          </a:prstGeom>
        </p:spPr>
      </p:pic>
      <p:sp>
        <p:nvSpPr>
          <p:cNvPr id="6" name="직사각형 11">
            <a:extLst>
              <a:ext uri="{FF2B5EF4-FFF2-40B4-BE49-F238E27FC236}">
                <a16:creationId xmlns:a16="http://schemas.microsoft.com/office/drawing/2014/main" id="{1C31F6A9-C5E5-4857-8507-578750A3AF2F}"/>
              </a:ext>
            </a:extLst>
          </p:cNvPr>
          <p:cNvSpPr/>
          <p:nvPr/>
        </p:nvSpPr>
        <p:spPr>
          <a:xfrm>
            <a:off x="88484" y="589918"/>
            <a:ext cx="2379443" cy="176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50" b="0" i="0" u="none" strike="noStrike" kern="1200" cap="none" spc="-2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amsungOneKorean 600C" panose="020B0706030303020204" pitchFamily="50" charset="-127"/>
                <a:ea typeface="SamsungOneKorean 600C" panose="020B0706030303020204" pitchFamily="50" charset="-127"/>
                <a:cs typeface="+mn-cs"/>
              </a:rPr>
              <a:t>* </a:t>
            </a:r>
            <a:r>
              <a:rPr kumimoji="0" lang="ko-KR" altLang="en-US" sz="550" b="0" i="0" u="none" strike="noStrike" kern="1200" cap="none" spc="-2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amsungOneKorean 600C" panose="020B0706030303020204" pitchFamily="50" charset="-127"/>
                <a:ea typeface="SamsungOneKorean 600C" panose="020B0706030303020204" pitchFamily="50" charset="-127"/>
                <a:cs typeface="+mn-cs"/>
              </a:rPr>
              <a:t>스위스</a:t>
            </a:r>
            <a:r>
              <a:rPr lang="en-US" altLang="ko-KR" sz="550" spc="-20" dirty="0">
                <a:solidFill>
                  <a:prstClr val="black">
                    <a:lumMod val="65000"/>
                    <a:lumOff val="35000"/>
                  </a:prstClr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</a:t>
            </a:r>
            <a:r>
              <a:rPr lang="ko-KR" altLang="en-US" sz="550" spc="-20" dirty="0">
                <a:solidFill>
                  <a:prstClr val="black">
                    <a:lumMod val="65000"/>
                    <a:lumOff val="35000"/>
                  </a:prstClr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기반 전기 장비와 산업 자동화 장비 제조사</a:t>
            </a:r>
            <a:endParaRPr kumimoji="0" lang="ko-KR" altLang="en-US" sz="550" b="0" i="0" u="none" strike="noStrike" kern="1200" cap="none" spc="-2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amsungOneKorean 600C" panose="020B0706030303020204" pitchFamily="50" charset="-127"/>
              <a:ea typeface="SamsungOneKorean 600C" panose="020B07060303030202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9345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표 3">
            <a:extLst>
              <a:ext uri="{FF2B5EF4-FFF2-40B4-BE49-F238E27FC236}">
                <a16:creationId xmlns:a16="http://schemas.microsoft.com/office/drawing/2014/main" id="{7F8616D5-49AD-42F7-89C0-78A0DEC05C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4626009"/>
              </p:ext>
            </p:extLst>
          </p:nvPr>
        </p:nvGraphicFramePr>
        <p:xfrm>
          <a:off x="68925" y="345536"/>
          <a:ext cx="4896000" cy="14695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87921">
                  <a:extLst>
                    <a:ext uri="{9D8B030D-6E8A-4147-A177-3AD203B41FA5}">
                      <a16:colId xmlns:a16="http://schemas.microsoft.com/office/drawing/2014/main" val="2285142228"/>
                    </a:ext>
                  </a:extLst>
                </a:gridCol>
                <a:gridCol w="1008079">
                  <a:extLst>
                    <a:ext uri="{9D8B030D-6E8A-4147-A177-3AD203B41FA5}">
                      <a16:colId xmlns:a16="http://schemas.microsoft.com/office/drawing/2014/main" val="4048088344"/>
                    </a:ext>
                  </a:extLst>
                </a:gridCol>
              </a:tblGrid>
              <a:tr h="365761">
                <a:tc gridSpan="2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2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u="sng" kern="1200" dirty="0">
                          <a:solidFill>
                            <a:srgbClr val="022CB2"/>
                          </a:solidFill>
                          <a:effectLst/>
                          <a:latin typeface="SamsungOneKorean 700" panose="020B0803030303020204" pitchFamily="50" charset="-127"/>
                          <a:ea typeface="SamsungOneKorean 700" panose="020B0803030303020204" pitchFamily="50" charset="-127"/>
                          <a:cs typeface="+mn-cs"/>
                        </a:rPr>
                        <a:t>ETRI, 6G </a:t>
                      </a:r>
                      <a:r>
                        <a:rPr lang="ko-KR" altLang="en-US" sz="1400" b="0" u="sng" kern="1200" dirty="0">
                          <a:solidFill>
                            <a:srgbClr val="022CB2"/>
                          </a:solidFill>
                          <a:effectLst/>
                          <a:latin typeface="SamsungOneKorean 700" panose="020B0803030303020204" pitchFamily="50" charset="-127"/>
                          <a:ea typeface="SamsungOneKorean 700" panose="020B0803030303020204" pitchFamily="50" charset="-127"/>
                          <a:cs typeface="+mn-cs"/>
                        </a:rPr>
                        <a:t>초정밀 서비스 구현</a:t>
                      </a:r>
                    </a:p>
                  </a:txBody>
                  <a:tcPr marT="45719" marB="45719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2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1" i="0" u="sng" strike="noStrike" kern="1200" cap="none" spc="50" normalizeH="0" baseline="0" noProof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uLnTx/>
                        <a:uFillTx/>
                        <a:latin typeface="SamsungOneKorean 700C" panose="020B0806030303020204" pitchFamily="50" charset="-127"/>
                        <a:ea typeface="SamsungOneKorean 700C" panose="020B0806030303020204" pitchFamily="50" charset="-127"/>
                        <a:cs typeface="+mn-cs"/>
                      </a:endParaRPr>
                    </a:p>
                  </a:txBody>
                  <a:tcPr marT="45719" marB="45719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251777"/>
                  </a:ext>
                </a:extLst>
              </a:tr>
              <a:tr h="650359">
                <a:tc>
                  <a:txBody>
                    <a:bodyPr/>
                    <a:lstStyle/>
                    <a:p>
                      <a:pPr marL="171450" marR="0" lvl="0" indent="-171450" algn="l" defTabSz="288036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6G </a:t>
                      </a:r>
                      <a:r>
                        <a:rPr lang="ko-KR" altLang="en-US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시대 통신과 센싱을 하나의 시스템으로 결합한 </a:t>
                      </a:r>
                      <a:r>
                        <a:rPr lang="en-US" altLang="ko-KR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'</a:t>
                      </a:r>
                      <a:r>
                        <a:rPr lang="ko-KR" altLang="en-US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통신</a:t>
                      </a:r>
                      <a:br>
                        <a:rPr lang="en-US" altLang="ko-KR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</a:br>
                      <a:r>
                        <a:rPr lang="ko-KR" altLang="en-US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보조 초정밀∙초절전 센싱 시스템</a:t>
                      </a:r>
                      <a:r>
                        <a:rPr lang="en-US" altLang="ko-KR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(CUPPS)' </a:t>
                      </a:r>
                      <a:r>
                        <a:rPr lang="ko-KR" altLang="en-US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원천기술 개발</a:t>
                      </a:r>
                      <a:endParaRPr lang="en-US" altLang="ko-KR" sz="1300" b="0" kern="1200" spc="-30" baseline="0">
                        <a:solidFill>
                          <a:schemeClr val="tx1"/>
                        </a:solidFill>
                        <a:latin typeface="SamsungOneKoreanOTF 600" panose="020B0703030303020204" pitchFamily="34" charset="-127"/>
                        <a:ea typeface="SamsungOneKoreanOTF 600" panose="020B0703030303020204" pitchFamily="34" charset="-127"/>
                        <a:cs typeface="+mn-cs"/>
                      </a:endParaRPr>
                    </a:p>
                    <a:p>
                      <a:pPr marL="171450" marR="0" lvl="0" indent="-171450" algn="l" defTabSz="288036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하나의 시스템 안에서 동작하되</a:t>
                      </a:r>
                      <a:r>
                        <a:rPr lang="en-US" altLang="ko-KR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,</a:t>
                      </a:r>
                      <a:r>
                        <a:rPr lang="ko-KR" altLang="en-US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 통신과 센싱의 기능적 역할 분리를 통해 주파수 이용 효율성과 센싱 정밀도 동시 확보</a:t>
                      </a:r>
                      <a:endParaRPr lang="en-US" altLang="ko-KR" sz="1300" b="0" kern="1200" spc="-30" baseline="0" dirty="0">
                        <a:solidFill>
                          <a:schemeClr val="tx1"/>
                        </a:solidFill>
                        <a:latin typeface="SamsungOneKoreanOTF 600" panose="020B0703030303020204" pitchFamily="34" charset="-127"/>
                        <a:ea typeface="SamsungOneKoreanOTF 600" panose="020B0703030303020204" pitchFamily="34" charset="-127"/>
                        <a:cs typeface="+mn-cs"/>
                      </a:endParaRPr>
                    </a:p>
                  </a:txBody>
                  <a:tcPr marT="45719" marB="45719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288036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300" b="0" kern="1200" spc="-30" baseline="0" dirty="0">
                        <a:solidFill>
                          <a:schemeClr val="tx1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  <a:cs typeface="+mn-cs"/>
                      </a:endParaRPr>
                    </a:p>
                  </a:txBody>
                  <a:tcPr marT="45719" marB="45719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260487"/>
                  </a:ext>
                </a:extLst>
              </a:tr>
            </a:tbl>
          </a:graphicData>
        </a:graphic>
      </p:graphicFrame>
      <p:sp>
        <p:nvSpPr>
          <p:cNvPr id="4" name="직사각형 11">
            <a:extLst>
              <a:ext uri="{FF2B5EF4-FFF2-40B4-BE49-F238E27FC236}">
                <a16:creationId xmlns:a16="http://schemas.microsoft.com/office/drawing/2014/main" id="{57F17DBD-9663-48CB-AA6C-7637F90B2C4B}"/>
              </a:ext>
            </a:extLst>
          </p:cNvPr>
          <p:cNvSpPr/>
          <p:nvPr/>
        </p:nvSpPr>
        <p:spPr>
          <a:xfrm>
            <a:off x="473885" y="1688726"/>
            <a:ext cx="3504087" cy="130805"/>
          </a:xfrm>
          <a:prstGeom prst="rect">
            <a:avLst/>
          </a:prstGeom>
        </p:spPr>
        <p:txBody>
          <a:bodyPr wrap="square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50" b="0" i="0" u="none" strike="noStrike" kern="1200" cap="none" spc="-2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amsungOneKorean 600C" panose="020B0706030303020204" pitchFamily="50" charset="-127"/>
                <a:ea typeface="SamsungOneKorean 600C" panose="020B0706030303020204" pitchFamily="50" charset="-127"/>
                <a:cs typeface="+mn-cs"/>
              </a:rPr>
              <a:t>* </a:t>
            </a:r>
            <a:r>
              <a:rPr kumimoji="0" lang="ko-KR" altLang="en-US" sz="550" b="0" i="0" u="none" strike="noStrike" kern="1200" cap="none" spc="-2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amsungOneKorean 600C" panose="020B0706030303020204" pitchFamily="50" charset="-127"/>
                <a:ea typeface="SamsungOneKorean 600C" panose="020B0706030303020204" pitchFamily="50" charset="-127"/>
                <a:cs typeface="+mn-cs"/>
              </a:rPr>
              <a:t>야외 실험 결과 강한 간섭 환경에서 다수 단말기의 위치를 기존 </a:t>
            </a:r>
            <a:r>
              <a:rPr kumimoji="0" lang="en-US" altLang="ko-KR" sz="550" b="0" i="0" u="none" strike="noStrike" kern="1200" cap="none" spc="-2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SamsungOneKorean 600C" panose="020B0706030303020204" pitchFamily="50" charset="-127"/>
                <a:ea typeface="SamsungOneKorean 600C" panose="020B0706030303020204" pitchFamily="50" charset="-127"/>
                <a:cs typeface="+mn-cs"/>
              </a:rPr>
              <a:t>5G </a:t>
            </a:r>
            <a:r>
              <a:rPr lang="en-US" altLang="ko-KR" sz="550" spc="-20" dirty="0">
                <a:solidFill>
                  <a:prstClr val="black">
                    <a:lumMod val="65000"/>
                    <a:lumOff val="35000"/>
                  </a:prstClr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RTT</a:t>
            </a:r>
            <a:r>
              <a:rPr lang="ko-KR" altLang="en-US" sz="550" spc="-20" dirty="0">
                <a:solidFill>
                  <a:prstClr val="black">
                    <a:lumMod val="65000"/>
                    <a:lumOff val="35000"/>
                  </a:prstClr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목표 정확도 대비 </a:t>
            </a:r>
            <a:r>
              <a:rPr lang="en-US" altLang="ko-KR" sz="550" spc="-20" dirty="0">
                <a:solidFill>
                  <a:prstClr val="black">
                    <a:lumMod val="65000"/>
                    <a:lumOff val="35000"/>
                  </a:prstClr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350</a:t>
            </a:r>
            <a:r>
              <a:rPr lang="ko-KR" altLang="en-US" sz="550" spc="-20" dirty="0">
                <a:solidFill>
                  <a:prstClr val="black">
                    <a:lumMod val="65000"/>
                    <a:lumOff val="35000"/>
                  </a:prstClr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배 이상 높은 정밀도</a:t>
            </a:r>
            <a:r>
              <a:rPr lang="en-US" altLang="ko-KR" sz="550" spc="-20" dirty="0">
                <a:solidFill>
                  <a:prstClr val="black">
                    <a:lumMod val="65000"/>
                    <a:lumOff val="35000"/>
                  </a:prstClr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, </a:t>
            </a:r>
            <a:r>
              <a:rPr lang="ko-KR" altLang="en-US" sz="550" spc="-20" dirty="0">
                <a:solidFill>
                  <a:prstClr val="black">
                    <a:lumMod val="65000"/>
                    <a:lumOff val="35000"/>
                  </a:prstClr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전력 소모 </a:t>
            </a:r>
            <a:r>
              <a:rPr lang="en-US" altLang="ko-KR" sz="550" spc="-20" dirty="0">
                <a:solidFill>
                  <a:prstClr val="black">
                    <a:lumMod val="65000"/>
                    <a:lumOff val="35000"/>
                  </a:prstClr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90%↓</a:t>
            </a:r>
            <a:endParaRPr kumimoji="0" lang="ko-KR" altLang="en-US" sz="550" b="0" i="0" u="none" strike="noStrike" kern="1200" cap="none" spc="-2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SamsungOneKorean 600C" panose="020B0706030303020204" pitchFamily="50" charset="-127"/>
              <a:ea typeface="SamsungOneKorean 600C" panose="020B0706030303020204" pitchFamily="50" charset="-127"/>
              <a:cs typeface="+mn-cs"/>
            </a:endParaRPr>
          </a:p>
        </p:txBody>
      </p:sp>
      <p:pic>
        <p:nvPicPr>
          <p:cNvPr id="5" name="그림 개체 틀 2">
            <a:extLst>
              <a:ext uri="{FF2B5EF4-FFF2-40B4-BE49-F238E27FC236}">
                <a16:creationId xmlns:a16="http://schemas.microsoft.com/office/drawing/2014/main" id="{11363D06-E9E5-42ED-9207-726028F9070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24" r="7133"/>
          <a:stretch/>
        </p:blipFill>
        <p:spPr>
          <a:xfrm>
            <a:off x="3885325" y="792163"/>
            <a:ext cx="975600" cy="9324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634819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표 3">
            <a:extLst>
              <a:ext uri="{FF2B5EF4-FFF2-40B4-BE49-F238E27FC236}">
                <a16:creationId xmlns:a16="http://schemas.microsoft.com/office/drawing/2014/main" id="{7F8616D5-49AD-42F7-89C0-78A0DEC05C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872409"/>
              </p:ext>
            </p:extLst>
          </p:nvPr>
        </p:nvGraphicFramePr>
        <p:xfrm>
          <a:off x="72156" y="341283"/>
          <a:ext cx="4896000" cy="146951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87921">
                  <a:extLst>
                    <a:ext uri="{9D8B030D-6E8A-4147-A177-3AD203B41FA5}">
                      <a16:colId xmlns:a16="http://schemas.microsoft.com/office/drawing/2014/main" val="2285142228"/>
                    </a:ext>
                  </a:extLst>
                </a:gridCol>
                <a:gridCol w="1008079">
                  <a:extLst>
                    <a:ext uri="{9D8B030D-6E8A-4147-A177-3AD203B41FA5}">
                      <a16:colId xmlns:a16="http://schemas.microsoft.com/office/drawing/2014/main" val="4048088344"/>
                    </a:ext>
                  </a:extLst>
                </a:gridCol>
              </a:tblGrid>
              <a:tr h="365761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2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u="sng" kern="1200" dirty="0">
                          <a:solidFill>
                            <a:srgbClr val="022CB2"/>
                          </a:solidFill>
                          <a:effectLst/>
                          <a:latin typeface="SamsungOneKorean 700" panose="020B0803030303020204" pitchFamily="50" charset="-127"/>
                          <a:ea typeface="SamsungOneKorean 700" panose="020B0803030303020204" pitchFamily="50" charset="-127"/>
                          <a:cs typeface="+mn-cs"/>
                        </a:rPr>
                        <a:t>Georgia</a:t>
                      </a:r>
                      <a:r>
                        <a:rPr lang="ko-KR" altLang="en-US" sz="1400" b="0" u="sng" kern="1200" dirty="0">
                          <a:solidFill>
                            <a:srgbClr val="022CB2"/>
                          </a:solidFill>
                          <a:effectLst/>
                          <a:latin typeface="SamsungOneKorean 700" panose="020B0803030303020204" pitchFamily="50" charset="-127"/>
                          <a:ea typeface="SamsungOneKorean 700" panose="020B0803030303020204" pitchFamily="50" charset="-127"/>
                          <a:cs typeface="+mn-cs"/>
                        </a:rPr>
                        <a:t>大</a:t>
                      </a:r>
                      <a:r>
                        <a:rPr lang="en-US" altLang="ko-KR" sz="1400" b="0" u="sng" kern="1200" dirty="0">
                          <a:solidFill>
                            <a:srgbClr val="022CB2"/>
                          </a:solidFill>
                          <a:effectLst/>
                          <a:latin typeface="SamsungOneKorean 700" panose="020B0803030303020204" pitchFamily="50" charset="-127"/>
                          <a:ea typeface="SamsungOneKorean 700" panose="020B08030303030202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b="0" u="sng" kern="1200" dirty="0">
                          <a:solidFill>
                            <a:srgbClr val="022CB2"/>
                          </a:solidFill>
                          <a:effectLst/>
                          <a:latin typeface="SamsungOneKorean 700" panose="020B0803030303020204" pitchFamily="50" charset="-127"/>
                          <a:ea typeface="SamsungOneKorean 700" panose="020B0803030303020204" pitchFamily="50" charset="-127"/>
                          <a:cs typeface="+mn-cs"/>
                        </a:rPr>
                        <a:t>헬스 모니터링용 금속 소재 고안</a:t>
                      </a:r>
                      <a:r>
                        <a:rPr lang="en-US" altLang="ko-KR" sz="1400" b="0" u="sng" kern="1200" dirty="0">
                          <a:solidFill>
                            <a:srgbClr val="022CB2"/>
                          </a:solidFill>
                          <a:effectLst/>
                          <a:latin typeface="SamsungOneKorean 700" panose="020B0803030303020204" pitchFamily="50" charset="-127"/>
                          <a:ea typeface="SamsungOneKorean 700" panose="020B0803030303020204" pitchFamily="50" charset="-127"/>
                          <a:cs typeface="+mn-cs"/>
                        </a:rPr>
                        <a:t>    </a:t>
                      </a:r>
                      <a:r>
                        <a:rPr lang="ko-KR" altLang="en-US" sz="1400" b="0" u="sng" kern="1200" dirty="0">
                          <a:solidFill>
                            <a:srgbClr val="022CB2"/>
                          </a:solidFill>
                          <a:effectLst/>
                          <a:latin typeface="SamsungOneKorean 700" panose="020B0803030303020204" pitchFamily="50" charset="-127"/>
                          <a:ea typeface="SamsungOneKorean 700" panose="020B0803030303020204" pitchFamily="50" charset="-127"/>
                          <a:cs typeface="+mn-cs"/>
                        </a:rPr>
                        <a:t>   </a:t>
                      </a:r>
                      <a:r>
                        <a:rPr lang="en-US" altLang="ko-KR" sz="1400" b="0" u="sng" kern="1200" dirty="0">
                          <a:solidFill>
                            <a:srgbClr val="022CB2"/>
                          </a:solidFill>
                          <a:effectLst/>
                          <a:latin typeface="SamsungOneKorean 700" panose="020B0803030303020204" pitchFamily="50" charset="-127"/>
                          <a:ea typeface="SamsungOneKorean 700" panose="020B0803030303020204" pitchFamily="50" charset="-127"/>
                          <a:cs typeface="+mn-cs"/>
                        </a:rPr>
                        <a:t>  </a:t>
                      </a:r>
                      <a:r>
                        <a:rPr lang="ko-KR" altLang="en-US" sz="1400" b="0" u="sng" kern="1200" dirty="0">
                          <a:solidFill>
                            <a:srgbClr val="022CB2"/>
                          </a:solidFill>
                          <a:effectLst/>
                          <a:latin typeface="SamsungOneKorean 700" panose="020B0803030303020204" pitchFamily="50" charset="-127"/>
                          <a:ea typeface="SamsungOneKorean 700" panose="020B0803030303020204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400" b="0" u="sng" kern="1200" dirty="0">
                          <a:solidFill>
                            <a:srgbClr val="022CB2"/>
                          </a:solidFill>
                          <a:effectLst/>
                          <a:latin typeface="SamsungOneKorean 700" panose="020B0803030303020204" pitchFamily="50" charset="-127"/>
                          <a:ea typeface="SamsungOneKorean 700" panose="020B0803030303020204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400" b="0" u="sng" kern="1200" dirty="0">
                          <a:solidFill>
                            <a:srgbClr val="022CB2"/>
                          </a:solidFill>
                          <a:effectLst/>
                          <a:latin typeface="SamsungOneKorean 700" panose="020B0803030303020204" pitchFamily="50" charset="-127"/>
                          <a:ea typeface="SamsungOneKorean 700" panose="020B0803030303020204" pitchFamily="50" charset="-127"/>
                          <a:cs typeface="+mn-cs"/>
                        </a:rPr>
                        <a:t>  </a:t>
                      </a:r>
                      <a:r>
                        <a:rPr lang="en-US" altLang="ko-KR" sz="1400" b="0" u="sng" kern="1200" dirty="0">
                          <a:solidFill>
                            <a:srgbClr val="022CB2"/>
                          </a:solidFill>
                          <a:effectLst/>
                          <a:latin typeface="SamsungOneKorean 700" panose="020B0803030303020204" pitchFamily="50" charset="-127"/>
                          <a:ea typeface="SamsungOneKorean 700" panose="020B0803030303020204" pitchFamily="50" charset="-127"/>
                          <a:cs typeface="+mn-cs"/>
                        </a:rPr>
                        <a:t> </a:t>
                      </a:r>
                      <a:endParaRPr lang="ko-KR" altLang="en-US" sz="1400" b="0" u="sng" kern="1200" noProof="0" dirty="0">
                        <a:solidFill>
                          <a:srgbClr val="022CB2"/>
                        </a:solidFill>
                        <a:effectLst/>
                        <a:latin typeface="SamsungOneKorean 700" panose="020B0803030303020204" pitchFamily="50" charset="-127"/>
                        <a:ea typeface="SamsungOneKorean 700" panose="020B0803030303020204" pitchFamily="50" charset="-127"/>
                        <a:cs typeface="+mn-cs"/>
                      </a:endParaRPr>
                    </a:p>
                  </a:txBody>
                  <a:tcPr marT="45719" marB="45719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2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1" i="0" u="sng" strike="noStrike" kern="1200" cap="none" spc="50" normalizeH="0" baseline="0" noProof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uLnTx/>
                        <a:uFillTx/>
                        <a:latin typeface="SamsungOneKorean 700C" panose="020B0806030303020204" pitchFamily="50" charset="-127"/>
                        <a:ea typeface="SamsungOneKorean 700C" panose="020B0806030303020204" pitchFamily="50" charset="-127"/>
                        <a:cs typeface="+mn-cs"/>
                      </a:endParaRPr>
                    </a:p>
                  </a:txBody>
                  <a:tcPr marT="45719" marB="45719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251777"/>
                  </a:ext>
                </a:extLst>
              </a:tr>
              <a:tr h="650359">
                <a:tc>
                  <a:txBody>
                    <a:bodyPr/>
                    <a:lstStyle/>
                    <a:p>
                      <a:pPr marL="171450" marR="0" lvl="0" indent="-171450" algn="l" defTabSz="288036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'Mxenes'</a:t>
                      </a:r>
                      <a:r>
                        <a:rPr lang="ko-KR" altLang="en-US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는 금속 화합물에서 추출된 유연성</a:t>
                      </a:r>
                      <a:r>
                        <a:rPr lang="en-US" altLang="ko-KR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∙</a:t>
                      </a:r>
                      <a:r>
                        <a:rPr lang="ko-KR" altLang="en-US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전도성을 </a:t>
                      </a:r>
                      <a:br>
                        <a:rPr lang="en-US" altLang="ko-KR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</a:br>
                      <a:r>
                        <a:rPr lang="ko-KR" altLang="en-US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지닌 소재로 스마트 섬유에 코팅</a:t>
                      </a:r>
                      <a:r>
                        <a:rPr lang="en-US" altLang="ko-KR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/</a:t>
                      </a:r>
                      <a:r>
                        <a:rPr lang="ko-KR" altLang="en-US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인쇄되어 기능 추가 가능  </a:t>
                      </a:r>
                      <a:r>
                        <a:rPr lang="en-US" altLang="ko-KR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 </a:t>
                      </a:r>
                    </a:p>
                    <a:p>
                      <a:pPr marL="171450" marR="0" lvl="0" indent="-171450" algn="l" defTabSz="288036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체온</a:t>
                      </a:r>
                      <a:r>
                        <a:rPr lang="en-US" altLang="ko-KR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혈압</a:t>
                      </a:r>
                      <a:r>
                        <a:rPr lang="en-US" altLang="ko-KR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심박수 등 측정용 센서</a:t>
                      </a:r>
                      <a:r>
                        <a:rPr lang="en-US" altLang="ko-KR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병원內 의료용 항균 </a:t>
                      </a:r>
                      <a:br>
                        <a:rPr lang="en-US" altLang="ko-KR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</a:br>
                      <a:r>
                        <a:rPr lang="ko-KR" altLang="en-US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섬유</a:t>
                      </a:r>
                      <a:r>
                        <a:rPr lang="en-US" altLang="ko-KR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태양광 기반 에너지 저장용 파워 뱅크 등에 활용</a:t>
                      </a:r>
                      <a:r>
                        <a:rPr lang="en-US" altLang="ko-KR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 </a:t>
                      </a:r>
                      <a:endParaRPr lang="en-US" altLang="ko-KR" sz="1300" b="0" kern="1200" spc="-30" baseline="0" dirty="0">
                        <a:solidFill>
                          <a:schemeClr val="tx1"/>
                        </a:solidFill>
                        <a:latin typeface="SamsungOneKoreanOTF 600" panose="020B0703030303020204" pitchFamily="34" charset="-127"/>
                        <a:ea typeface="SamsungOneKoreanOTF 600" panose="020B0703030303020204" pitchFamily="34" charset="-127"/>
                        <a:cs typeface="+mn-cs"/>
                      </a:endParaRPr>
                    </a:p>
                  </a:txBody>
                  <a:tcPr marT="45719" marB="45719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288036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300" b="0" kern="1200" spc="-30" baseline="0" dirty="0">
                        <a:solidFill>
                          <a:schemeClr val="tx1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  <a:cs typeface="+mn-cs"/>
                      </a:endParaRPr>
                    </a:p>
                  </a:txBody>
                  <a:tcPr marT="45719" marB="45719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260487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6CD18B32-E33B-41C9-8513-A732CC26849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891661" y="792163"/>
            <a:ext cx="969264" cy="932688"/>
          </a:xfrm>
          <a:prstGeom prst="roundRect">
            <a:avLst/>
          </a:prstGeom>
        </p:spPr>
      </p:pic>
      <p:grpSp>
        <p:nvGrpSpPr>
          <p:cNvPr id="4" name="Group 2">
            <a:extLst>
              <a:ext uri="{FF2B5EF4-FFF2-40B4-BE49-F238E27FC236}">
                <a16:creationId xmlns:a16="http://schemas.microsoft.com/office/drawing/2014/main" id="{6F35A485-1AEA-4161-8DBE-09E265CA704A}"/>
              </a:ext>
            </a:extLst>
          </p:cNvPr>
          <p:cNvGrpSpPr/>
          <p:nvPr/>
        </p:nvGrpSpPr>
        <p:grpSpPr>
          <a:xfrm>
            <a:off x="4500925" y="448735"/>
            <a:ext cx="374503" cy="184666"/>
            <a:chOff x="4500925" y="448735"/>
            <a:chExt cx="374503" cy="184666"/>
          </a:xfrm>
        </p:grpSpPr>
        <p:pic>
          <p:nvPicPr>
            <p:cNvPr id="5" name="그림 36">
              <a:extLst>
                <a:ext uri="{FF2B5EF4-FFF2-40B4-BE49-F238E27FC236}">
                  <a16:creationId xmlns:a16="http://schemas.microsoft.com/office/drawing/2014/main" id="{54459A72-9A46-456F-ADFF-8D63C41E0D70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4784800" y="535668"/>
              <a:ext cx="144000" cy="10800"/>
            </a:xfrm>
            <a:prstGeom prst="rect">
              <a:avLst/>
            </a:prstGeom>
          </p:spPr>
        </p:pic>
        <p:pic>
          <p:nvPicPr>
            <p:cNvPr id="6" name="그림 36">
              <a:extLst>
                <a:ext uri="{FF2B5EF4-FFF2-40B4-BE49-F238E27FC236}">
                  <a16:creationId xmlns:a16="http://schemas.microsoft.com/office/drawing/2014/main" id="{6542CE63-D619-43F1-B8EE-D437DE7D103A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4434325" y="537573"/>
              <a:ext cx="144000" cy="10800"/>
            </a:xfrm>
            <a:prstGeom prst="rect">
              <a:avLst/>
            </a:prstGeom>
          </p:spPr>
        </p:pic>
        <p:sp>
          <p:nvSpPr>
            <p:cNvPr id="7" name="Rectangle 12">
              <a:extLst>
                <a:ext uri="{FF2B5EF4-FFF2-40B4-BE49-F238E27FC236}">
                  <a16:creationId xmlns:a16="http://schemas.microsoft.com/office/drawing/2014/main" id="{4EC444E2-7F01-4B11-BAE4-A03500383F87}"/>
                </a:ext>
              </a:extLst>
            </p:cNvPr>
            <p:cNvSpPr/>
            <p:nvPr/>
          </p:nvSpPr>
          <p:spPr>
            <a:xfrm>
              <a:off x="4500925" y="448735"/>
              <a:ext cx="374503" cy="18466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rgbClr val="022CB2"/>
                  </a:solidFill>
                  <a:latin typeface="Samsung Sharp Sans Bold" pitchFamily="2" charset="0"/>
                  <a:ea typeface="Samsung Sharp Sans Bold" pitchFamily="2" charset="0"/>
                  <a:cs typeface="Samsung Sharp Sans Bold" pitchFamily="2" charset="0"/>
                </a:rPr>
                <a:t>SRA</a:t>
              </a:r>
              <a:endParaRPr lang="ko-KR" altLang="en-US" sz="600" dirty="0">
                <a:solidFill>
                  <a:srgbClr val="022CB2"/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endParaRPr>
            </a:p>
          </p:txBody>
        </p:sp>
        <p:pic>
          <p:nvPicPr>
            <p:cNvPr id="8" name="그림 36">
              <a:extLst>
                <a:ext uri="{FF2B5EF4-FFF2-40B4-BE49-F238E27FC236}">
                  <a16:creationId xmlns:a16="http://schemas.microsoft.com/office/drawing/2014/main" id="{D806A98E-62E8-421F-B7C0-240908201CC4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500925" y="468313"/>
              <a:ext cx="360000" cy="10800"/>
            </a:xfrm>
            <a:prstGeom prst="rect">
              <a:avLst/>
            </a:prstGeom>
          </p:spPr>
        </p:pic>
        <p:pic>
          <p:nvPicPr>
            <p:cNvPr id="9" name="그림 36">
              <a:extLst>
                <a:ext uri="{FF2B5EF4-FFF2-40B4-BE49-F238E27FC236}">
                  <a16:creationId xmlns:a16="http://schemas.microsoft.com/office/drawing/2014/main" id="{0526367C-6189-480E-9D65-41B7B8D1B0D1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500925" y="608648"/>
              <a:ext cx="360000" cy="10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2955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표 3">
            <a:extLst>
              <a:ext uri="{FF2B5EF4-FFF2-40B4-BE49-F238E27FC236}">
                <a16:creationId xmlns:a16="http://schemas.microsoft.com/office/drawing/2014/main" id="{7F8616D5-49AD-42F7-89C0-78A0DEC05C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848168"/>
              </p:ext>
            </p:extLst>
          </p:nvPr>
        </p:nvGraphicFramePr>
        <p:xfrm>
          <a:off x="68925" y="345536"/>
          <a:ext cx="4896000" cy="16219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87921">
                  <a:extLst>
                    <a:ext uri="{9D8B030D-6E8A-4147-A177-3AD203B41FA5}">
                      <a16:colId xmlns:a16="http://schemas.microsoft.com/office/drawing/2014/main" val="2285142228"/>
                    </a:ext>
                  </a:extLst>
                </a:gridCol>
                <a:gridCol w="1008079">
                  <a:extLst>
                    <a:ext uri="{9D8B030D-6E8A-4147-A177-3AD203B41FA5}">
                      <a16:colId xmlns:a16="http://schemas.microsoft.com/office/drawing/2014/main" val="4048088344"/>
                    </a:ext>
                  </a:extLst>
                </a:gridCol>
              </a:tblGrid>
              <a:tr h="365761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2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u="sng" kern="1200" dirty="0" err="1">
                          <a:solidFill>
                            <a:srgbClr val="022CB2"/>
                          </a:solidFill>
                          <a:effectLst/>
                          <a:latin typeface="SamsungOneKorean 700" panose="020B0803030303020204" pitchFamily="50" charset="-127"/>
                          <a:ea typeface="SamsungOneKorean 700" panose="020B0803030303020204" pitchFamily="50" charset="-127"/>
                          <a:cs typeface="+mn-cs"/>
                        </a:rPr>
                        <a:t>AlterEgo</a:t>
                      </a:r>
                      <a:r>
                        <a:rPr lang="ko-KR" altLang="en-US" sz="1400" b="0" u="sng" kern="1200" dirty="0">
                          <a:solidFill>
                            <a:srgbClr val="022CB2"/>
                          </a:solidFill>
                          <a:effectLst/>
                          <a:latin typeface="SamsungOneKorean 700" panose="020B0803030303020204" pitchFamily="50" charset="-127"/>
                          <a:ea typeface="SamsungOneKorean 700" panose="020B0803030303020204" pitchFamily="50" charset="-127"/>
                          <a:cs typeface="+mn-cs"/>
                        </a:rPr>
                        <a:t>社</a:t>
                      </a:r>
                      <a:r>
                        <a:rPr lang="en-US" altLang="ko-KR" sz="1400" b="0" u="sng" kern="1200" dirty="0">
                          <a:solidFill>
                            <a:srgbClr val="022CB2"/>
                          </a:solidFill>
                          <a:effectLst/>
                          <a:latin typeface="SamsungOneKorean 700" panose="020B0803030303020204" pitchFamily="50" charset="-127"/>
                          <a:ea typeface="SamsungOneKorean 700" panose="020B08030303030202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400" b="0" u="sng" kern="1200" dirty="0">
                          <a:solidFill>
                            <a:srgbClr val="022CB2"/>
                          </a:solidFill>
                          <a:effectLst/>
                          <a:latin typeface="SamsungOneKorean 700" panose="020B0803030303020204" pitchFamily="50" charset="-127"/>
                          <a:ea typeface="SamsungOneKorean 700" panose="020B0803030303020204" pitchFamily="50" charset="-127"/>
                          <a:cs typeface="+mn-cs"/>
                        </a:rPr>
                        <a:t>무음 발화 인식 </a:t>
                      </a:r>
                      <a:r>
                        <a:rPr lang="en-US" altLang="ko-KR" sz="1400" b="0" u="sng" kern="1200" dirty="0">
                          <a:solidFill>
                            <a:srgbClr val="022CB2"/>
                          </a:solidFill>
                          <a:effectLst/>
                          <a:latin typeface="SamsungOneKorean 700" panose="020B0803030303020204" pitchFamily="50" charset="-127"/>
                          <a:ea typeface="SamsungOneKorean 700" panose="020B0803030303020204" pitchFamily="50" charset="-127"/>
                          <a:cs typeface="+mn-cs"/>
                        </a:rPr>
                        <a:t>Wearable</a:t>
                      </a:r>
                      <a:r>
                        <a:rPr lang="ko-KR" altLang="en-US" sz="1400" b="0" u="sng" kern="1200" dirty="0">
                          <a:solidFill>
                            <a:srgbClr val="022CB2"/>
                          </a:solidFill>
                          <a:effectLst/>
                          <a:latin typeface="SamsungOneKorean 700" panose="020B0803030303020204" pitchFamily="50" charset="-127"/>
                          <a:ea typeface="SamsungOneKorean 700" panose="020B0803030303020204" pitchFamily="50" charset="-127"/>
                          <a:cs typeface="+mn-cs"/>
                        </a:rPr>
                        <a:t> 기기 데모  </a:t>
                      </a:r>
                      <a:endParaRPr lang="ko-KR" altLang="en-US" sz="1400" b="0" u="sng" kern="1200" noProof="0" dirty="0">
                        <a:solidFill>
                          <a:srgbClr val="022CB2"/>
                        </a:solidFill>
                        <a:effectLst/>
                        <a:latin typeface="SamsungOneKorean 700" panose="020B0803030303020204" pitchFamily="50" charset="-127"/>
                        <a:ea typeface="SamsungOneKorean 700" panose="020B0803030303020204" pitchFamily="50" charset="-127"/>
                        <a:cs typeface="+mn-cs"/>
                      </a:endParaRPr>
                    </a:p>
                  </a:txBody>
                  <a:tcPr marT="45719" marB="45719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2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1" i="0" u="sng" strike="noStrike" kern="1200" cap="none" spc="50" normalizeH="0" baseline="0" noProof="0" dirty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uLnTx/>
                        <a:uFillTx/>
                        <a:latin typeface="SamsungOneKorean 700C" panose="020B0806030303020204" pitchFamily="50" charset="-127"/>
                        <a:ea typeface="SamsungOneKorean 700C" panose="020B0806030303020204" pitchFamily="50" charset="-127"/>
                        <a:cs typeface="+mn-cs"/>
                      </a:endParaRPr>
                    </a:p>
                  </a:txBody>
                  <a:tcPr marT="45719" marB="45719" anchor="ctr">
                    <a:lnL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251777"/>
                  </a:ext>
                </a:extLst>
              </a:tr>
              <a:tr h="650359">
                <a:tc>
                  <a:txBody>
                    <a:bodyPr/>
                    <a:lstStyle/>
                    <a:p>
                      <a:pPr marL="171450" marR="0" lvl="0" indent="-171450" algn="l" defTabSz="288036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Silent Sense </a:t>
                      </a:r>
                      <a:r>
                        <a:rPr lang="ko-KR" altLang="en-US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시스템을 개발해 뇌가 발화 시스템에 전송한 신호를 포착</a:t>
                      </a:r>
                      <a:r>
                        <a:rPr lang="en-US" altLang="ko-KR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/</a:t>
                      </a:r>
                      <a:r>
                        <a:rPr lang="ko-KR" altLang="en-US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해석</a:t>
                      </a:r>
                      <a:r>
                        <a:rPr lang="en-US" altLang="ko-KR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말하려는 순간의 미세 근육 등을 감지  </a:t>
                      </a:r>
                      <a:endParaRPr lang="en-US" altLang="ko-KR" sz="1300" b="0" kern="1200" spc="-30" baseline="0">
                        <a:solidFill>
                          <a:schemeClr val="tx1"/>
                        </a:solidFill>
                        <a:latin typeface="SamsungOneKoreanOTF 600" panose="020B0703030303020204" pitchFamily="34" charset="-127"/>
                        <a:ea typeface="SamsungOneKoreanOTF 600" panose="020B0703030303020204" pitchFamily="34" charset="-127"/>
                        <a:cs typeface="+mn-cs"/>
                      </a:endParaRPr>
                    </a:p>
                    <a:p>
                      <a:pPr marL="171450" marR="0" lvl="0" indent="-171450" algn="l" defTabSz="288036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Wearable </a:t>
                      </a:r>
                      <a:r>
                        <a:rPr lang="ko-KR" altLang="en-US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기기를 귀에 착용하고 상대방과 대화</a:t>
                      </a:r>
                      <a:r>
                        <a:rPr lang="en-US" altLang="ko-KR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실시간 </a:t>
                      </a:r>
                      <a:br>
                        <a:rPr lang="en-US" altLang="ko-KR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</a:br>
                      <a:r>
                        <a:rPr lang="ko-KR" altLang="en-US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통역</a:t>
                      </a:r>
                      <a:r>
                        <a:rPr lang="en-US" altLang="ko-KR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, </a:t>
                      </a:r>
                      <a:r>
                        <a:rPr lang="ko-KR" altLang="en-US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디지털 기기 제어 등을 무음으로 진행하는 영상 공개</a:t>
                      </a:r>
                      <a:r>
                        <a:rPr lang="en-US" altLang="ko-KR" sz="1300" b="0" kern="1200" spc="-30" baseline="0">
                          <a:solidFill>
                            <a:schemeClr val="tx1"/>
                          </a:solidFill>
                          <a:latin typeface="SamsungOneKoreanOTF 600" panose="020B0703030303020204" pitchFamily="34" charset="-127"/>
                          <a:ea typeface="SamsungOneKoreanOTF 600" panose="020B0703030303020204" pitchFamily="34" charset="-127"/>
                          <a:cs typeface="+mn-cs"/>
                        </a:rPr>
                        <a:t> </a:t>
                      </a:r>
                      <a:endParaRPr lang="en-US" altLang="ko-KR" sz="1300" b="0" kern="1200" spc="-30" baseline="0" dirty="0">
                        <a:solidFill>
                          <a:schemeClr val="tx1"/>
                        </a:solidFill>
                        <a:latin typeface="SamsungOneKoreanOTF 600" panose="020B0703030303020204" pitchFamily="34" charset="-127"/>
                        <a:ea typeface="SamsungOneKoreanOTF 600" panose="020B0703030303020204" pitchFamily="34" charset="-127"/>
                        <a:cs typeface="+mn-cs"/>
                      </a:endParaRPr>
                    </a:p>
                  </a:txBody>
                  <a:tcPr marT="45719" marB="45719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288036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300" b="0" kern="1200" spc="-30" baseline="0" dirty="0">
                        <a:solidFill>
                          <a:schemeClr val="tx1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  <a:cs typeface="+mn-cs"/>
                      </a:endParaRPr>
                    </a:p>
                  </a:txBody>
                  <a:tcPr marT="45719" marB="45719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260487"/>
                  </a:ext>
                </a:extLst>
              </a:tr>
            </a:tbl>
          </a:graphicData>
        </a:graphic>
      </p:graphicFrame>
      <p:pic>
        <p:nvPicPr>
          <p:cNvPr id="2050" name="Picture 2" descr="A man sits with a wearable device wrapped around the back of his head. Projected on a screen behind him are the words, &quot;From the outside it looks like telepathy.&quot;">
            <a:extLst>
              <a:ext uri="{FF2B5EF4-FFF2-40B4-BE49-F238E27FC236}">
                <a16:creationId xmlns:a16="http://schemas.microsoft.com/office/drawing/2014/main" id="{A1508886-79C7-3D39-4894-905A12288B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95" r="20108"/>
          <a:stretch/>
        </p:blipFill>
        <p:spPr bwMode="auto">
          <a:xfrm>
            <a:off x="3890241" y="793960"/>
            <a:ext cx="970684" cy="934828"/>
          </a:xfrm>
          <a:prstGeom prst="round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1">
            <a:extLst>
              <a:ext uri="{FF2B5EF4-FFF2-40B4-BE49-F238E27FC236}">
                <a16:creationId xmlns:a16="http://schemas.microsoft.com/office/drawing/2014/main" id="{3ED75AE2-8A13-C60F-342D-E41C0736950B}"/>
              </a:ext>
            </a:extLst>
          </p:cNvPr>
          <p:cNvSpPr/>
          <p:nvPr/>
        </p:nvSpPr>
        <p:spPr>
          <a:xfrm>
            <a:off x="71438" y="595727"/>
            <a:ext cx="1793346" cy="176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550" spc="-20" dirty="0">
                <a:solidFill>
                  <a:schemeClr val="tx1">
                    <a:lumMod val="65000"/>
                    <a:lumOff val="35000"/>
                  </a:schemeClr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*  MIT </a:t>
            </a:r>
            <a:r>
              <a:rPr lang="ko-KR" altLang="en-US" sz="550" spc="-20" dirty="0">
                <a:solidFill>
                  <a:schemeClr val="tx1">
                    <a:lumMod val="65000"/>
                    <a:lumOff val="35000"/>
                  </a:schemeClr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미디어랩 분사 스타트업 </a:t>
            </a:r>
            <a:r>
              <a:rPr lang="en-US" altLang="ko-KR" sz="550" spc="-20" dirty="0">
                <a:solidFill>
                  <a:schemeClr val="tx1">
                    <a:lumMod val="65000"/>
                    <a:lumOff val="35000"/>
                  </a:schemeClr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(Cambridge, MA)</a:t>
            </a:r>
            <a:endParaRPr lang="ko-KR" altLang="en-US" sz="550" spc="-20" dirty="0">
              <a:solidFill>
                <a:schemeClr val="tx1">
                  <a:lumMod val="65000"/>
                  <a:lumOff val="35000"/>
                </a:schemeClr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grpSp>
        <p:nvGrpSpPr>
          <p:cNvPr id="5" name="Group 2">
            <a:extLst>
              <a:ext uri="{FF2B5EF4-FFF2-40B4-BE49-F238E27FC236}">
                <a16:creationId xmlns:a16="http://schemas.microsoft.com/office/drawing/2014/main" id="{55600579-AA6A-4433-8A1C-42E1163BE757}"/>
              </a:ext>
            </a:extLst>
          </p:cNvPr>
          <p:cNvGrpSpPr/>
          <p:nvPr/>
        </p:nvGrpSpPr>
        <p:grpSpPr>
          <a:xfrm>
            <a:off x="4500925" y="448735"/>
            <a:ext cx="374503" cy="184666"/>
            <a:chOff x="4500925" y="448735"/>
            <a:chExt cx="374503" cy="184666"/>
          </a:xfrm>
        </p:grpSpPr>
        <p:pic>
          <p:nvPicPr>
            <p:cNvPr id="6" name="그림 36">
              <a:extLst>
                <a:ext uri="{FF2B5EF4-FFF2-40B4-BE49-F238E27FC236}">
                  <a16:creationId xmlns:a16="http://schemas.microsoft.com/office/drawing/2014/main" id="{37C6B9CE-E789-4C92-A2D8-AD42889A3B6C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4784800" y="535668"/>
              <a:ext cx="144000" cy="10800"/>
            </a:xfrm>
            <a:prstGeom prst="rect">
              <a:avLst/>
            </a:prstGeom>
          </p:spPr>
        </p:pic>
        <p:pic>
          <p:nvPicPr>
            <p:cNvPr id="7" name="그림 36">
              <a:extLst>
                <a:ext uri="{FF2B5EF4-FFF2-40B4-BE49-F238E27FC236}">
                  <a16:creationId xmlns:a16="http://schemas.microsoft.com/office/drawing/2014/main" id="{268F803A-2E3B-4DE7-BC15-8AD50BD2D795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4434325" y="537573"/>
              <a:ext cx="144000" cy="10800"/>
            </a:xfrm>
            <a:prstGeom prst="rect">
              <a:avLst/>
            </a:prstGeom>
          </p:spPr>
        </p:pic>
        <p:sp>
          <p:nvSpPr>
            <p:cNvPr id="8" name="Rectangle 12">
              <a:extLst>
                <a:ext uri="{FF2B5EF4-FFF2-40B4-BE49-F238E27FC236}">
                  <a16:creationId xmlns:a16="http://schemas.microsoft.com/office/drawing/2014/main" id="{5295C5C9-3326-4386-B4F4-077C82F555F5}"/>
                </a:ext>
              </a:extLst>
            </p:cNvPr>
            <p:cNvSpPr/>
            <p:nvPr/>
          </p:nvSpPr>
          <p:spPr>
            <a:xfrm>
              <a:off x="4500925" y="448735"/>
              <a:ext cx="374503" cy="18466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600" dirty="0">
                  <a:solidFill>
                    <a:srgbClr val="022CB2"/>
                  </a:solidFill>
                  <a:latin typeface="Samsung Sharp Sans Bold" pitchFamily="2" charset="0"/>
                  <a:ea typeface="Samsung Sharp Sans Bold" pitchFamily="2" charset="0"/>
                  <a:cs typeface="Samsung Sharp Sans Bold" pitchFamily="2" charset="0"/>
                </a:rPr>
                <a:t>SRA</a:t>
              </a:r>
              <a:endParaRPr lang="ko-KR" altLang="en-US" sz="600" dirty="0">
                <a:solidFill>
                  <a:srgbClr val="022CB2"/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endParaRPr>
            </a:p>
          </p:txBody>
        </p:sp>
        <p:pic>
          <p:nvPicPr>
            <p:cNvPr id="9" name="그림 36">
              <a:extLst>
                <a:ext uri="{FF2B5EF4-FFF2-40B4-BE49-F238E27FC236}">
                  <a16:creationId xmlns:a16="http://schemas.microsoft.com/office/drawing/2014/main" id="{5E0F95DB-5DA8-424F-A3BB-0C392A91B6BC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500925" y="468313"/>
              <a:ext cx="360000" cy="10800"/>
            </a:xfrm>
            <a:prstGeom prst="rect">
              <a:avLst/>
            </a:prstGeom>
          </p:spPr>
        </p:pic>
        <p:pic>
          <p:nvPicPr>
            <p:cNvPr id="10" name="그림 36">
              <a:extLst>
                <a:ext uri="{FF2B5EF4-FFF2-40B4-BE49-F238E27FC236}">
                  <a16:creationId xmlns:a16="http://schemas.microsoft.com/office/drawing/2014/main" id="{8F5C41B4-D27C-49B1-B756-5F38F62CF3BB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500925" y="608648"/>
              <a:ext cx="360000" cy="108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08252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square">
        <a:spAutoFit/>
      </a:bodyPr>
      <a:lstStyle>
        <a:defPPr>
          <a:defRPr sz="600" dirty="0">
            <a:solidFill>
              <a:srgbClr val="022CB2"/>
            </a:solidFill>
            <a:latin typeface="SamsungOneKorean 700C" panose="020B0806030303020204" pitchFamily="50" charset="-127"/>
            <a:ea typeface="SamsungOneKorean 700C" panose="020B0806030303020204" pitchFamily="50" charset="-127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E1D462E418CCF94BAF6763885E18830F" ma:contentTypeVersion="0" ma:contentTypeDescription="새 문서를 만듭니다." ma:contentTypeScope="" ma:versionID="43e97c997e917d3dee514adddc08c6a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6142cc285753f069fe6237cbe592e30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201DE17-74A5-446D-93C6-C230A0AD65AD}">
  <ds:schemaRefs>
    <ds:schemaRef ds:uri="http://purl.org/dc/elements/1.1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5F42F388-D7EB-46DA-B020-D541702051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5585C25-1BB4-4D70-AA13-906D1513F97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284679</TotalTime>
  <Words>623</Words>
  <Application>Microsoft Office PowerPoint</Application>
  <PresentationFormat>사용자 지정</PresentationFormat>
  <Paragraphs>50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9" baseType="lpstr">
      <vt:lpstr>SamsungOneKorean 600C</vt:lpstr>
      <vt:lpstr>SamsungOneKorean 700</vt:lpstr>
      <vt:lpstr>SamsungOneKorean 700C</vt:lpstr>
      <vt:lpstr>SamsungOneKoreanOTF 600</vt:lpstr>
      <vt:lpstr>맑은 고딕</vt:lpstr>
      <vt:lpstr>Arial</vt:lpstr>
      <vt:lpstr>Calibri</vt:lpstr>
      <vt:lpstr>Calibri Light</vt:lpstr>
      <vt:lpstr>Samsung Sharp Sans</vt:lpstr>
      <vt:lpstr>Samsung Sharp Sans 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배주열/Open Innovation그룹(SR)/삼성전자</dc:creator>
  <cp:lastModifiedBy>방정욱/기술기획1그룹(SR)/삼성전자</cp:lastModifiedBy>
  <cp:revision>18840</cp:revision>
  <dcterms:created xsi:type="dcterms:W3CDTF">2022-12-27T01:11:12Z</dcterms:created>
  <dcterms:modified xsi:type="dcterms:W3CDTF">2026-04-24T07:28:53Z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ContentTypeId">
    <vt:lpwstr>0x010100E1D462E418CCF94BAF6763885E18830F</vt:lpwstr>
  </property>
  <property fmtid="{D5CDD505-2E9C-101B-9397-08002B2CF9AE}" pid="4" name="FLCMData">
    <vt:lpwstr>4CFB9A96A7552566AFDC68993A02BE776F6BA21BBB8365B1760674511A009F499D96CDF478FE431B980EE243687E7B8B029D16DD9BAF57B8CA4172FFC95D2014</vt:lpwstr>
  </property>
</Properties>
</file>